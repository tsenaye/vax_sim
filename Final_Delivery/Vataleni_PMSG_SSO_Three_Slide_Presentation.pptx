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05e6fa8c21439a" /><Relationship Type="http://schemas.openxmlformats.org/officeDocument/2006/relationships/extended-properties" Target="/docProps/app.xml" Id="Rf02a3860eff44018" /><Relationship Type="http://schemas.openxmlformats.org/officeDocument/2006/relationships/officeDocument" Target="/ppt/presentation.xml" Id="Re2ce3345266342d2" /></Relationships>
</file>

<file path=ppt/presentation.xml><?xml version="1.0" encoding="utf-8"?>
<p:presentation xmlns:p="http://schemas.openxmlformats.org/presentationml/2006/main">
  <p:sldMasterIdLst>
    <p:sldMasterId xmlns:r="http://schemas.openxmlformats.org/officeDocument/2006/relationships" id="2147483648" r:id="R81513dd0cd414b2f"/>
  </p:sldMasterIdLst>
  <p:notesMasterIdLst>
    <p:notesMasterId xmlns:r="http://schemas.openxmlformats.org/officeDocument/2006/relationships" r:id="R3b866a4fba124f94"/>
  </p:notesMasterIdLst>
  <p:sldIdLst>
    <p:sldId xmlns:r="http://schemas.openxmlformats.org/officeDocument/2006/relationships" id="256" r:id="R3d383dcba2214d0b"/>
    <p:sldId xmlns:r="http://schemas.openxmlformats.org/officeDocument/2006/relationships" id="257" r:id="R019fb487e80041d8"/>
    <p:sldId xmlns:r="http://schemas.openxmlformats.org/officeDocument/2006/relationships" id="258" r:id="Rcc47220072da40b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03308fd47a4b66" /><Relationship Type="http://schemas.openxmlformats.org/officeDocument/2006/relationships/slideMaster" Target="/ppt/slideMasters/slideMaster1.xml" Id="R81513dd0cd414b2f" /><Relationship Type="http://schemas.openxmlformats.org/officeDocument/2006/relationships/notesMaster" Target="/ppt/notesMasters/notesMaster1.xml" Id="R3b866a4fba124f94" /><Relationship Type="http://schemas.openxmlformats.org/officeDocument/2006/relationships/presProps" Target="/ppt/presProps.xml" Id="Re18dcae6ea874f06" /><Relationship Type="http://schemas.openxmlformats.org/officeDocument/2006/relationships/tableStyles" Target="/ppt/tableStyles.xml" Id="Rd02ff16841a54894" /><Relationship Type="http://schemas.openxmlformats.org/officeDocument/2006/relationships/slide" Target="/ppt/slides/slide1.xml" Id="R3d383dcba2214d0b" /><Relationship Type="http://schemas.openxmlformats.org/officeDocument/2006/relationships/slide" Target="/ppt/slides/slide2.xml" Id="R019fb487e80041d8" /><Relationship Type="http://schemas.openxmlformats.org/officeDocument/2006/relationships/slide" Target="/ppt/slides/slide3.xml" Id="Rcc47220072da40b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2c6109df9f4e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95786ab40547b6" /><Relationship Type="http://schemas.openxmlformats.org/officeDocument/2006/relationships/notesMaster" Target="/ppt/notesMasters/notesMaster1.xml" Id="R8e83a2d918e94f27"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420dfec1e14440" /><Relationship Type="http://schemas.openxmlformats.org/officeDocument/2006/relationships/notesMaster" Target="/ppt/notesMasters/notesMaster1.xml" Id="Rcb4bebc09be34d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f8e4ef97824211" /><Relationship Type="http://schemas.openxmlformats.org/officeDocument/2006/relationships/notesMaster" Target="/ppt/notesMasters/notesMaster1.xml" Id="R8eb36da1679f48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model views are direct crops of the actual final saved Simulink model exported at high resolution. The lower controller subsystems are visible in the complete model inset. The machine is a native PMSM with full d/q electrical dynamics. Sources: project technical report and MathWorks block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control images are genuine exports from the saved Simulink model. The lower graph is a native MATLAB figure generated from the final physical-model weak-grid run. The wind step at 2 s is the disturbance. External SCR refers to the separately modelled grid impedance. Reference: Wang et al., DOI 10.1109/EI247390.2019.9061793; project technical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left plots have identical axes and are native MATLAB exports from the final saved physical SLX. The comparison is from identical 12 to 13 m/s wind steps at 2 s. Early values are standard deviations of PCC q-axis voltage over 2.25–3.25 s. The 4.6 Hz mode is the matched snapshot linearization mode, not the least-damped mitigated mode overall. No unstable SSO or site-specific prediction is claimed. Source: project technical and verification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3416e7d86147d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2c822aa2fd9461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f61764fe6b84ae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fb3333fd7e047d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a3a4873167a4e7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b62651571a14e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07B885-DAB6-4475-8CC4-F5C6B770328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0C77269-95B0-4A79-86F8-6B45E928224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AD06B6F-BFD9-4669-85D6-F4F36947188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3A4B50-96F1-43B7-9325-0A1C3CE361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D4CA7C9-A44A-4714-9570-F95FCD342B0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6855D7C-8D73-4EAE-ACE9-EAC79C1420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07C8C18-3113-4198-BF3D-3C1BDEF5388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7410EEF-CC59-4990-91AB-47BEF42F3B5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7B7201-072D-43A1-B8B1-900CEA5C7F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E62B687-DF3B-43D4-B757-0EF5D69E2A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775ce7eb494091" /><Relationship Type="http://schemas.openxmlformats.org/officeDocument/2006/relationships/slideLayout" Target="/ppt/slideLayouts/slideLayout1.xml" Id="R06860eb767df414d" /><Relationship Type="http://schemas.openxmlformats.org/officeDocument/2006/relationships/slideLayout" Target="/ppt/slideLayouts/slideLayout2.xml" Id="R47889ac5005648ea" /><Relationship Type="http://schemas.openxmlformats.org/officeDocument/2006/relationships/slideLayout" Target="/ppt/slideLayouts/slideLayout3.xml" Id="R7711d889b9424d5d" /><Relationship Type="http://schemas.openxmlformats.org/officeDocument/2006/relationships/slideLayout" Target="/ppt/slideLayouts/slideLayout4.xml" Id="R0f7724d8e29e4dca" /><Relationship Type="http://schemas.openxmlformats.org/officeDocument/2006/relationships/slideLayout" Target="/ppt/slideLayouts/slideLayout5.xml" Id="R5a7d9cce3ea24a53" /><Relationship Type="http://schemas.openxmlformats.org/officeDocument/2006/relationships/slideLayout" Target="/ppt/slideLayouts/slideLayout6.xml" Id="R49f8a3671f8e488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860eb767df414d"/>
    <p:sldLayoutId xmlns:r="http://schemas.openxmlformats.org/officeDocument/2006/relationships" id="2147483650" r:id="R47889ac5005648ea"/>
    <p:sldLayoutId xmlns:r="http://schemas.openxmlformats.org/officeDocument/2006/relationships" id="2147483651" r:id="R7711d889b9424d5d"/>
    <p:sldLayoutId xmlns:r="http://schemas.openxmlformats.org/officeDocument/2006/relationships" id="2147483652" r:id="R0f7724d8e29e4dca"/>
    <p:sldLayoutId xmlns:r="http://schemas.openxmlformats.org/officeDocument/2006/relationships" id="2147483653" r:id="R5a7d9cce3ea24a53"/>
    <p:sldLayoutId xmlns:r="http://schemas.openxmlformats.org/officeDocument/2006/relationships" id="2147483654" r:id="R49f8a3671f8e488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8a61fa7aec649db" /><Relationship Type="http://schemas.openxmlformats.org/officeDocument/2006/relationships/image" Target="/ppt/media/image.png" Id="R278388b08d15469d" /><Relationship Type="http://schemas.openxmlformats.org/officeDocument/2006/relationships/image" Target="/ppt/media/image2.png" Id="Rf07d5b3bb0c64464" /><Relationship Type="http://schemas.openxmlformats.org/officeDocument/2006/relationships/notesSlide" Target="/ppt/notesSlides/notesSlide1.xml" Id="Rfabb293209e948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87d20892a4947db" /><Relationship Type="http://schemas.openxmlformats.org/officeDocument/2006/relationships/image" Target="/ppt/media/image3.png" Id="R3831f237d5a24d8d" /><Relationship Type="http://schemas.openxmlformats.org/officeDocument/2006/relationships/image" Target="/ppt/media/image4.png" Id="R217548caa44f4470" /><Relationship Type="http://schemas.openxmlformats.org/officeDocument/2006/relationships/image" Target="/ppt/media/image5.png" Id="Re514b956cd8e4db6" /><Relationship Type="http://schemas.openxmlformats.org/officeDocument/2006/relationships/notesSlide" Target="/ppt/notesSlides/notesSlide2.xml" Id="Rb2d12a6585d242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212aef58fbd453a" /><Relationship Type="http://schemas.openxmlformats.org/officeDocument/2006/relationships/image" Target="/ppt/media/image6.png" Id="Re68b6f958e0544a2" /><Relationship Type="http://schemas.openxmlformats.org/officeDocument/2006/relationships/image" Target="/ppt/media/image7.png" Id="R6f13157bdfb84e29" /><Relationship Type="http://schemas.openxmlformats.org/officeDocument/2006/relationships/image" Target="/ppt/media/image8.png" Id="Rb65c08b3d3b44170" /><Relationship Type="http://schemas.openxmlformats.org/officeDocument/2006/relationships/notesSlide" Target="/ppt/notesSlides/notesSlide3.xml" Id="Rf5a53ad4caae454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C8E222A-20B8-4F41-AFAE-68E3CA40621E}"/>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132B4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3E92BCD-962C-4436-9EC4-B238F045A85A}"/>
              </a:ext>
            </a:extLst>
          </p:cNvPr>
          <p:cNvSpPr>
            <a:spLocks xmlns:a="http://schemas.openxmlformats.org/drawingml/2006/main" noGrp="1"/>
          </p:cNvSpPr>
          <p:nvPr/>
        </p:nvSpPr>
        <p:spPr>
          <a:xfrm xmlns:a="http://schemas.openxmlformats.org/drawingml/2006/main">
            <a:off x="457200" y="323850"/>
            <a:ext cx="11239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32B43"/>
                </a:solidFill>
                <a:latin typeface="Arial"/>
                <a:ea typeface="Arial"/>
                <a:cs typeface="Arial"/>
              </a:defRPr>
            </a:defPPr>
            <a:lvl1pPr>
              <a:defRPr sz="2625" b="1">
                <a:solidFill>
                  <a:srgbClr val="132B43"/>
                </a:solidFill>
                <a:latin typeface="Arial"/>
                <a:ea typeface="Arial"/>
                <a:cs typeface="Arial"/>
              </a:defRPr>
            </a:lvl1pPr>
            <a:lvl2pPr>
              <a:defRPr sz="2625" b="1">
                <a:solidFill>
                  <a:srgbClr val="132B43"/>
                </a:solidFill>
                <a:latin typeface="Arial"/>
                <a:ea typeface="Arial"/>
                <a:cs typeface="Arial"/>
              </a:defRPr>
            </a:lvl2pPr>
            <a:lvl3pPr>
              <a:defRPr sz="2625" b="1">
                <a:solidFill>
                  <a:srgbClr val="132B43"/>
                </a:solidFill>
                <a:latin typeface="Arial"/>
                <a:ea typeface="Arial"/>
                <a:cs typeface="Arial"/>
              </a:defRPr>
            </a:lvl3pPr>
            <a:lvl4pPr>
              <a:defRPr sz="2625" b="1">
                <a:solidFill>
                  <a:srgbClr val="132B43"/>
                </a:solidFill>
                <a:latin typeface="Arial"/>
                <a:ea typeface="Arial"/>
                <a:cs typeface="Arial"/>
              </a:defRPr>
            </a:lvl4pPr>
            <a:lvl5pPr>
              <a:defRPr sz="2625" b="1">
                <a:solidFill>
                  <a:srgbClr val="132B43"/>
                </a:solidFill>
                <a:latin typeface="Arial"/>
                <a:ea typeface="Arial"/>
                <a:cs typeface="Arial"/>
              </a:defRPr>
            </a:lvl5pPr>
            <a:lvl6pPr>
              <a:defRPr sz="2625" b="1">
                <a:solidFill>
                  <a:srgbClr val="132B43"/>
                </a:solidFill>
                <a:latin typeface="Arial"/>
                <a:ea typeface="Arial"/>
                <a:cs typeface="Arial"/>
              </a:defRPr>
            </a:lvl6pPr>
            <a:lvl7pPr>
              <a:defRPr sz="2625" b="1">
                <a:solidFill>
                  <a:srgbClr val="132B43"/>
                </a:solidFill>
                <a:latin typeface="Arial"/>
                <a:ea typeface="Arial"/>
                <a:cs typeface="Arial"/>
              </a:defRPr>
            </a:lvl7pPr>
            <a:lvl8pPr>
              <a:defRPr sz="2625" b="1">
                <a:solidFill>
                  <a:srgbClr val="132B43"/>
                </a:solidFill>
                <a:latin typeface="Arial"/>
                <a:ea typeface="Arial"/>
                <a:cs typeface="Arial"/>
              </a:defRPr>
            </a:lvl8pPr>
            <a:lvl9pPr>
              <a:defRPr sz="2625" b="1">
                <a:solidFill>
                  <a:srgbClr val="132B43"/>
                </a:solidFill>
                <a:latin typeface="Arial"/>
                <a:ea typeface="Arial"/>
                <a:cs typeface="Arial"/>
              </a:defRPr>
            </a:lvl9pPr>
          </a:lstStyle>
          <a:p xmlns:a="http://schemas.openxmlformats.org/drawingml/2006/main">
            <a:pPr>
              <a:defRPr sz="2625" b="1">
                <a:solidFill>
                  <a:srgbClr val="132B43"/>
                </a:solidFill>
                <a:latin typeface="Arial"/>
                <a:ea typeface="Arial"/>
                <a:cs typeface="Arial"/>
              </a:defRPr>
            </a:pPr>
            <a:r>
              <a:rPr sz="2625" b="1">
                <a:solidFill>
                  <a:srgbClr val="132B43"/>
                </a:solidFill>
                <a:latin typeface="Arial"/>
                <a:ea typeface="Arial"/>
                <a:cs typeface="Arial"/>
              </a:rPr>
              <a:t>PMSG-Based Wind Turbine System: Simulink Model Architecture</a:t>
            </a:r>
          </a:p>
        </p:txBody>
      </p:sp>
      <p:sp>
        <p:nvSpPr>
          <p:cNvPr id="3" name="">
            <a:extLst xmlns:a="http://schemas.openxmlformats.org/drawingml/2006/main">
              <a:ext uri="{FF2B5EF4-FFF2-40B4-BE49-F238E27FC236}">
                <a16:creationId xmlns:a16="http://schemas.microsoft.com/office/drawing/2014/main" id="{B72EA8B8-78BC-402D-8F65-475A9D9657D7}"/>
              </a:ext>
            </a:extLst>
          </p:cNvPr>
          <p:cNvSpPr>
            <a:spLocks xmlns:a="http://schemas.openxmlformats.org/drawingml/2006/main" noGrp="1"/>
          </p:cNvSpPr>
          <p:nvPr/>
        </p:nvSpPr>
        <p:spPr>
          <a:xfrm xmlns:a="http://schemas.openxmlformats.org/drawingml/2006/main">
            <a:off x="457200" y="1000125"/>
            <a:ext cx="11277600" cy="19050"/>
          </a:xfrm>
          <a:prstGeom xmlns:a="http://schemas.openxmlformats.org/drawingml/2006/main" prst="rect">
            <a:avLst/>
          </a:prstGeom>
          <a:solidFill xmlns:a="http://schemas.openxmlformats.org/drawingml/2006/main">
            <a:srgbClr val="DCE4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9565B3F-2154-43AD-BD1B-D0EE3F9C2099}"/>
              </a:ext>
            </a:extLst>
          </p:cNvPr>
          <p:cNvSpPr>
            <a:spLocks xmlns:a="http://schemas.openxmlformats.org/drawingml/2006/main" noGrp="1"/>
          </p:cNvSpPr>
          <p:nvPr/>
        </p:nvSpPr>
        <p:spPr>
          <a:xfrm xmlns:a="http://schemas.openxmlformats.org/drawingml/2006/main">
            <a:off x="457200" y="6477000"/>
            <a:ext cx="1123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4F5E68"/>
                </a:solidFill>
                <a:latin typeface="Arial"/>
                <a:ea typeface="Arial"/>
                <a:cs typeface="Arial"/>
              </a:defRPr>
            </a:defPPr>
            <a:lvl1pPr>
              <a:defRPr sz="975" b="0">
                <a:solidFill>
                  <a:srgbClr val="4F5E68"/>
                </a:solidFill>
                <a:latin typeface="Arial"/>
                <a:ea typeface="Arial"/>
                <a:cs typeface="Arial"/>
              </a:defRPr>
            </a:lvl1pPr>
            <a:lvl2pPr>
              <a:defRPr sz="975" b="0">
                <a:solidFill>
                  <a:srgbClr val="4F5E68"/>
                </a:solidFill>
                <a:latin typeface="Arial"/>
                <a:ea typeface="Arial"/>
                <a:cs typeface="Arial"/>
              </a:defRPr>
            </a:lvl2pPr>
            <a:lvl3pPr>
              <a:defRPr sz="975" b="0">
                <a:solidFill>
                  <a:srgbClr val="4F5E68"/>
                </a:solidFill>
                <a:latin typeface="Arial"/>
                <a:ea typeface="Arial"/>
                <a:cs typeface="Arial"/>
              </a:defRPr>
            </a:lvl3pPr>
            <a:lvl4pPr>
              <a:defRPr sz="975" b="0">
                <a:solidFill>
                  <a:srgbClr val="4F5E68"/>
                </a:solidFill>
                <a:latin typeface="Arial"/>
                <a:ea typeface="Arial"/>
                <a:cs typeface="Arial"/>
              </a:defRPr>
            </a:lvl4pPr>
            <a:lvl5pPr>
              <a:defRPr sz="975" b="0">
                <a:solidFill>
                  <a:srgbClr val="4F5E68"/>
                </a:solidFill>
                <a:latin typeface="Arial"/>
                <a:ea typeface="Arial"/>
                <a:cs typeface="Arial"/>
              </a:defRPr>
            </a:lvl5pPr>
            <a:lvl6pPr>
              <a:defRPr sz="975" b="0">
                <a:solidFill>
                  <a:srgbClr val="4F5E68"/>
                </a:solidFill>
                <a:latin typeface="Arial"/>
                <a:ea typeface="Arial"/>
                <a:cs typeface="Arial"/>
              </a:defRPr>
            </a:lvl6pPr>
            <a:lvl7pPr>
              <a:defRPr sz="975" b="0">
                <a:solidFill>
                  <a:srgbClr val="4F5E68"/>
                </a:solidFill>
                <a:latin typeface="Arial"/>
                <a:ea typeface="Arial"/>
                <a:cs typeface="Arial"/>
              </a:defRPr>
            </a:lvl7pPr>
            <a:lvl8pPr>
              <a:defRPr sz="975" b="0">
                <a:solidFill>
                  <a:srgbClr val="4F5E68"/>
                </a:solidFill>
                <a:latin typeface="Arial"/>
                <a:ea typeface="Arial"/>
                <a:cs typeface="Arial"/>
              </a:defRPr>
            </a:lvl8pPr>
            <a:lvl9pPr>
              <a:defRPr sz="975" b="0">
                <a:solidFill>
                  <a:srgbClr val="4F5E68"/>
                </a:solidFill>
                <a:latin typeface="Arial"/>
                <a:ea typeface="Arial"/>
                <a:cs typeface="Arial"/>
              </a:defRPr>
            </a:lvl9pPr>
          </a:lstStyle>
          <a:p xmlns:a="http://schemas.openxmlformats.org/drawingml/2006/main">
            <a:pPr>
              <a:defRPr sz="975" b="0">
                <a:solidFill>
                  <a:srgbClr val="4F5E68"/>
                </a:solidFill>
                <a:latin typeface="Arial"/>
                <a:ea typeface="Arial"/>
                <a:cs typeface="Arial"/>
              </a:defRPr>
            </a:pPr>
            <a:r>
              <a:rPr sz="975" b="0">
                <a:solidFill>
                  <a:srgbClr val="4F5E68"/>
                </a:solidFill>
                <a:latin typeface="Arial"/>
                <a:ea typeface="Arial"/>
                <a:cs typeface="Arial"/>
              </a:rPr>
              <a:t>VATaleni PMSG–SSO  |  1/3</a:t>
            </a:r>
          </a:p>
        </p:txBody>
      </p:sp>
      <p:sp>
        <p:nvSpPr>
          <p:cNvPr id="5" name="">
            <a:extLst xmlns:a="http://schemas.openxmlformats.org/drawingml/2006/main">
              <a:ext uri="{FF2B5EF4-FFF2-40B4-BE49-F238E27FC236}">
                <a16:creationId xmlns:a16="http://schemas.microsoft.com/office/drawing/2014/main" id="{5F215755-FD46-4481-BC78-B93DC24802AA}"/>
              </a:ext>
            </a:extLst>
          </p:cNvPr>
          <p:cNvSpPr>
            <a:spLocks xmlns:a="http://schemas.openxmlformats.org/drawingml/2006/main" noGrp="1"/>
          </p:cNvSpPr>
          <p:nvPr/>
        </p:nvSpPr>
        <p:spPr>
          <a:xfrm xmlns:a="http://schemas.openxmlformats.org/drawingml/2006/main">
            <a:off x="457200" y="1162050"/>
            <a:ext cx="714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315D79"/>
                </a:solidFill>
                <a:latin typeface="Arial"/>
                <a:ea typeface="Arial"/>
                <a:cs typeface="Arial"/>
              </a:defRPr>
            </a:defPPr>
            <a:lvl1pPr>
              <a:defRPr sz="1275" b="1">
                <a:solidFill>
                  <a:srgbClr val="315D79"/>
                </a:solidFill>
                <a:latin typeface="Arial"/>
                <a:ea typeface="Arial"/>
                <a:cs typeface="Arial"/>
              </a:defRPr>
            </a:lvl1pPr>
            <a:lvl2pPr>
              <a:defRPr sz="1275" b="1">
                <a:solidFill>
                  <a:srgbClr val="315D79"/>
                </a:solidFill>
                <a:latin typeface="Arial"/>
                <a:ea typeface="Arial"/>
                <a:cs typeface="Arial"/>
              </a:defRPr>
            </a:lvl2pPr>
            <a:lvl3pPr>
              <a:defRPr sz="1275" b="1">
                <a:solidFill>
                  <a:srgbClr val="315D79"/>
                </a:solidFill>
                <a:latin typeface="Arial"/>
                <a:ea typeface="Arial"/>
                <a:cs typeface="Arial"/>
              </a:defRPr>
            </a:lvl3pPr>
            <a:lvl4pPr>
              <a:defRPr sz="1275" b="1">
                <a:solidFill>
                  <a:srgbClr val="315D79"/>
                </a:solidFill>
                <a:latin typeface="Arial"/>
                <a:ea typeface="Arial"/>
                <a:cs typeface="Arial"/>
              </a:defRPr>
            </a:lvl4pPr>
            <a:lvl5pPr>
              <a:defRPr sz="1275" b="1">
                <a:solidFill>
                  <a:srgbClr val="315D79"/>
                </a:solidFill>
                <a:latin typeface="Arial"/>
                <a:ea typeface="Arial"/>
                <a:cs typeface="Arial"/>
              </a:defRPr>
            </a:lvl5pPr>
            <a:lvl6pPr>
              <a:defRPr sz="1275" b="1">
                <a:solidFill>
                  <a:srgbClr val="315D79"/>
                </a:solidFill>
                <a:latin typeface="Arial"/>
                <a:ea typeface="Arial"/>
                <a:cs typeface="Arial"/>
              </a:defRPr>
            </a:lvl6pPr>
            <a:lvl7pPr>
              <a:defRPr sz="1275" b="1">
                <a:solidFill>
                  <a:srgbClr val="315D79"/>
                </a:solidFill>
                <a:latin typeface="Arial"/>
                <a:ea typeface="Arial"/>
                <a:cs typeface="Arial"/>
              </a:defRPr>
            </a:lvl7pPr>
            <a:lvl8pPr>
              <a:defRPr sz="1275" b="1">
                <a:solidFill>
                  <a:srgbClr val="315D79"/>
                </a:solidFill>
                <a:latin typeface="Arial"/>
                <a:ea typeface="Arial"/>
                <a:cs typeface="Arial"/>
              </a:defRPr>
            </a:lvl8pPr>
            <a:lvl9pPr>
              <a:defRPr sz="1275" b="1">
                <a:solidFill>
                  <a:srgbClr val="315D79"/>
                </a:solidFill>
                <a:latin typeface="Arial"/>
                <a:ea typeface="Arial"/>
                <a:cs typeface="Arial"/>
              </a:defRPr>
            </a:lvl9pPr>
          </a:lstStyle>
          <a:p xmlns:a="http://schemas.openxmlformats.org/drawingml/2006/main">
            <a:pPr>
              <a:defRPr sz="1275" b="1">
                <a:solidFill>
                  <a:srgbClr val="315D79"/>
                </a:solidFill>
                <a:latin typeface="Arial"/>
                <a:ea typeface="Arial"/>
                <a:cs typeface="Arial"/>
              </a:defRPr>
            </a:pPr>
            <a:r>
              <a:rPr sz="1275" b="1">
                <a:solidFill>
                  <a:srgbClr val="315D79"/>
                </a:solidFill>
                <a:latin typeface="Arial"/>
                <a:ea typeface="Arial"/>
                <a:cs typeface="Arial"/>
              </a:rPr>
              <a:t>ACTUAL SIMULINK POWER PATH</a:t>
            </a:r>
          </a:p>
        </p:txBody>
      </p:sp>
      <p:pic>
        <p:nvPicPr>
          <p:cNvPr id="6" name="">
            <a:extLst xmlns:a="http://schemas.openxmlformats.org/drawingml/2006/main">
              <a:ext uri="{FF2B5EF4-FFF2-40B4-BE49-F238E27FC236}">
                <a16:creationId xmlns:a16="http://schemas.microsoft.com/office/drawing/2014/main" id="{DAF5180D-A1CE-4078-8DA9-7E073AE87E87}"/>
              </a:ext>
            </a:extLst>
          </p:cNvPr>
          <p:cNvPicPr>
            <a:picLocks xmlns:a="http://schemas.openxmlformats.org/drawingml/2006/main" noChangeAspect="1"/>
          </p:cNvPicPr>
          <p:nvPr/>
        </p:nvPicPr>
        <p:blipFill>
          <a:blip xmlns:r="http://schemas.openxmlformats.org/officeDocument/2006/relationships" xmlns:a="http://schemas.openxmlformats.org/drawingml/2006/main" r:embed="R278388b08d15469d"/>
          <a:stretch xmlns:a="http://schemas.openxmlformats.org/drawingml/2006/main"/>
        </p:blipFill>
        <p:spPr>
          <a:xfrm xmlns:a="http://schemas.openxmlformats.org/drawingml/2006/main">
            <a:off x="381000" y="2321802"/>
            <a:ext cx="8058150" cy="235727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6FF4716-8047-4A85-B148-411D14B5E499}"/>
              </a:ext>
            </a:extLst>
          </p:cNvPr>
          <p:cNvSpPr>
            <a:spLocks xmlns:a="http://schemas.openxmlformats.org/drawingml/2006/main" noGrp="1"/>
          </p:cNvSpPr>
          <p:nvPr/>
        </p:nvSpPr>
        <p:spPr>
          <a:xfrm xmlns:a="http://schemas.openxmlformats.org/drawingml/2006/main">
            <a:off x="8782050" y="119062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315D79"/>
                </a:solidFill>
                <a:latin typeface="Arial"/>
                <a:ea typeface="Arial"/>
                <a:cs typeface="Arial"/>
              </a:defRPr>
            </a:defPPr>
            <a:lvl1pPr>
              <a:defRPr sz="1275" b="1">
                <a:solidFill>
                  <a:srgbClr val="315D79"/>
                </a:solidFill>
                <a:latin typeface="Arial"/>
                <a:ea typeface="Arial"/>
                <a:cs typeface="Arial"/>
              </a:defRPr>
            </a:lvl1pPr>
            <a:lvl2pPr>
              <a:defRPr sz="1275" b="1">
                <a:solidFill>
                  <a:srgbClr val="315D79"/>
                </a:solidFill>
                <a:latin typeface="Arial"/>
                <a:ea typeface="Arial"/>
                <a:cs typeface="Arial"/>
              </a:defRPr>
            </a:lvl2pPr>
            <a:lvl3pPr>
              <a:defRPr sz="1275" b="1">
                <a:solidFill>
                  <a:srgbClr val="315D79"/>
                </a:solidFill>
                <a:latin typeface="Arial"/>
                <a:ea typeface="Arial"/>
                <a:cs typeface="Arial"/>
              </a:defRPr>
            </a:lvl3pPr>
            <a:lvl4pPr>
              <a:defRPr sz="1275" b="1">
                <a:solidFill>
                  <a:srgbClr val="315D79"/>
                </a:solidFill>
                <a:latin typeface="Arial"/>
                <a:ea typeface="Arial"/>
                <a:cs typeface="Arial"/>
              </a:defRPr>
            </a:lvl4pPr>
            <a:lvl5pPr>
              <a:defRPr sz="1275" b="1">
                <a:solidFill>
                  <a:srgbClr val="315D79"/>
                </a:solidFill>
                <a:latin typeface="Arial"/>
                <a:ea typeface="Arial"/>
                <a:cs typeface="Arial"/>
              </a:defRPr>
            </a:lvl5pPr>
            <a:lvl6pPr>
              <a:defRPr sz="1275" b="1">
                <a:solidFill>
                  <a:srgbClr val="315D79"/>
                </a:solidFill>
                <a:latin typeface="Arial"/>
                <a:ea typeface="Arial"/>
                <a:cs typeface="Arial"/>
              </a:defRPr>
            </a:lvl6pPr>
            <a:lvl7pPr>
              <a:defRPr sz="1275" b="1">
                <a:solidFill>
                  <a:srgbClr val="315D79"/>
                </a:solidFill>
                <a:latin typeface="Arial"/>
                <a:ea typeface="Arial"/>
                <a:cs typeface="Arial"/>
              </a:defRPr>
            </a:lvl7pPr>
            <a:lvl8pPr>
              <a:defRPr sz="1275" b="1">
                <a:solidFill>
                  <a:srgbClr val="315D79"/>
                </a:solidFill>
                <a:latin typeface="Arial"/>
                <a:ea typeface="Arial"/>
                <a:cs typeface="Arial"/>
              </a:defRPr>
            </a:lvl8pPr>
            <a:lvl9pPr>
              <a:defRPr sz="1275" b="1">
                <a:solidFill>
                  <a:srgbClr val="315D79"/>
                </a:solidFill>
                <a:latin typeface="Arial"/>
                <a:ea typeface="Arial"/>
                <a:cs typeface="Arial"/>
              </a:defRPr>
            </a:lvl9pPr>
          </a:lstStyle>
          <a:p xmlns:a="http://schemas.openxmlformats.org/drawingml/2006/main">
            <a:pPr>
              <a:defRPr sz="1275" b="1">
                <a:solidFill>
                  <a:srgbClr val="315D79"/>
                </a:solidFill>
                <a:latin typeface="Arial"/>
                <a:ea typeface="Arial"/>
                <a:cs typeface="Arial"/>
              </a:defRPr>
            </a:pPr>
            <a:r>
              <a:rPr sz="1275" b="1">
                <a:solidFill>
                  <a:srgbClr val="315D79"/>
                </a:solidFill>
                <a:latin typeface="Arial"/>
                <a:ea typeface="Arial"/>
                <a:cs typeface="Arial"/>
              </a:rPr>
              <a:t>COMPLETE MODEL</a:t>
            </a:r>
          </a:p>
        </p:txBody>
      </p:sp>
      <p:pic>
        <p:nvPicPr>
          <p:cNvPr id="8" name="">
            <a:extLst xmlns:a="http://schemas.openxmlformats.org/drawingml/2006/main">
              <a:ext uri="{FF2B5EF4-FFF2-40B4-BE49-F238E27FC236}">
                <a16:creationId xmlns:a16="http://schemas.microsoft.com/office/drawing/2014/main" id="{BE163553-1615-4B35-A29F-36A58CB12C4C}"/>
              </a:ext>
            </a:extLst>
          </p:cNvPr>
          <p:cNvPicPr>
            <a:picLocks xmlns:a="http://schemas.openxmlformats.org/drawingml/2006/main" noChangeAspect="1"/>
          </p:cNvPicPr>
          <p:nvPr/>
        </p:nvPicPr>
        <p:blipFill>
          <a:blip xmlns:r="http://schemas.openxmlformats.org/officeDocument/2006/relationships" xmlns:a="http://schemas.openxmlformats.org/drawingml/2006/main" r:embed="Rf07d5b3bb0c64464"/>
          <a:stretch xmlns:a="http://schemas.openxmlformats.org/drawingml/2006/main"/>
        </p:blipFill>
        <p:spPr>
          <a:xfrm xmlns:a="http://schemas.openxmlformats.org/drawingml/2006/main">
            <a:off x="8724900" y="1503731"/>
            <a:ext cx="2971800" cy="1621687"/>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ACB47F6-EE5F-4CE4-AF7B-3644E0F0A946}"/>
              </a:ext>
            </a:extLst>
          </p:cNvPr>
          <p:cNvSpPr>
            <a:spLocks xmlns:a="http://schemas.openxmlformats.org/drawingml/2006/main" noGrp="1"/>
          </p:cNvSpPr>
          <p:nvPr/>
        </p:nvSpPr>
        <p:spPr>
          <a:xfrm xmlns:a="http://schemas.openxmlformats.org/drawingml/2006/main">
            <a:off x="8801100" y="3314700"/>
            <a:ext cx="280987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32B43"/>
                </a:solidFill>
                <a:latin typeface="Arial"/>
                <a:ea typeface="Arial"/>
                <a:cs typeface="Arial"/>
              </a:defRPr>
            </a:defPPr>
            <a:lvl1pPr>
              <a:defRPr sz="1425" b="0">
                <a:solidFill>
                  <a:srgbClr val="132B43"/>
                </a:solidFill>
                <a:latin typeface="Arial"/>
                <a:ea typeface="Arial"/>
                <a:cs typeface="Arial"/>
              </a:defRPr>
            </a:lvl1pPr>
            <a:lvl2pPr>
              <a:defRPr sz="1425" b="0">
                <a:solidFill>
                  <a:srgbClr val="132B43"/>
                </a:solidFill>
                <a:latin typeface="Arial"/>
                <a:ea typeface="Arial"/>
                <a:cs typeface="Arial"/>
              </a:defRPr>
            </a:lvl2pPr>
            <a:lvl3pPr>
              <a:defRPr sz="1425" b="0">
                <a:solidFill>
                  <a:srgbClr val="132B43"/>
                </a:solidFill>
                <a:latin typeface="Arial"/>
                <a:ea typeface="Arial"/>
                <a:cs typeface="Arial"/>
              </a:defRPr>
            </a:lvl3pPr>
            <a:lvl4pPr>
              <a:defRPr sz="1425" b="0">
                <a:solidFill>
                  <a:srgbClr val="132B43"/>
                </a:solidFill>
                <a:latin typeface="Arial"/>
                <a:ea typeface="Arial"/>
                <a:cs typeface="Arial"/>
              </a:defRPr>
            </a:lvl4pPr>
            <a:lvl5pPr>
              <a:defRPr sz="1425" b="0">
                <a:solidFill>
                  <a:srgbClr val="132B43"/>
                </a:solidFill>
                <a:latin typeface="Arial"/>
                <a:ea typeface="Arial"/>
                <a:cs typeface="Arial"/>
              </a:defRPr>
            </a:lvl5pPr>
            <a:lvl6pPr>
              <a:defRPr sz="1425" b="0">
                <a:solidFill>
                  <a:srgbClr val="132B43"/>
                </a:solidFill>
                <a:latin typeface="Arial"/>
                <a:ea typeface="Arial"/>
                <a:cs typeface="Arial"/>
              </a:defRPr>
            </a:lvl6pPr>
            <a:lvl7pPr>
              <a:defRPr sz="1425" b="0">
                <a:solidFill>
                  <a:srgbClr val="132B43"/>
                </a:solidFill>
                <a:latin typeface="Arial"/>
                <a:ea typeface="Arial"/>
                <a:cs typeface="Arial"/>
              </a:defRPr>
            </a:lvl7pPr>
            <a:lvl8pPr>
              <a:defRPr sz="1425" b="0">
                <a:solidFill>
                  <a:srgbClr val="132B43"/>
                </a:solidFill>
                <a:latin typeface="Arial"/>
                <a:ea typeface="Arial"/>
                <a:cs typeface="Arial"/>
              </a:defRPr>
            </a:lvl8pPr>
            <a:lvl9pPr>
              <a:defRPr sz="1425" b="0">
                <a:solidFill>
                  <a:srgbClr val="132B43"/>
                </a:solidFill>
                <a:latin typeface="Arial"/>
                <a:ea typeface="Arial"/>
                <a:cs typeface="Arial"/>
              </a:defRPr>
            </a:lvl9pPr>
          </a:lstStyle>
          <a:p xmlns:a="http://schemas.openxmlformats.org/drawingml/2006/main">
            <a:pPr>
              <a:defRPr sz="1425" b="0">
                <a:solidFill>
                  <a:srgbClr val="132B43"/>
                </a:solidFill>
                <a:latin typeface="Arial"/>
                <a:ea typeface="Arial"/>
                <a:cs typeface="Arial"/>
              </a:defRPr>
            </a:pPr>
            <a:r>
              <a:rPr sz="1425" b="0">
                <a:solidFill>
                  <a:srgbClr val="132B43"/>
                </a:solidFill>
                <a:latin typeface="Arial"/>
                <a:ea typeface="Arial"/>
                <a:cs typeface="Arial"/>
              </a:rPr>
              <a:t>Wind &gt; shaft &gt; PMSG &gt; MSC &gt; DC link &gt; GSC &gt; filter &gt; PCC &gt; grid</a:t>
            </a:r>
          </a:p>
        </p:txBody>
      </p:sp>
      <p:sp>
        <p:nvSpPr>
          <p:cNvPr id="10" name="">
            <a:extLst xmlns:a="http://schemas.openxmlformats.org/drawingml/2006/main">
              <a:ext uri="{FF2B5EF4-FFF2-40B4-BE49-F238E27FC236}">
                <a16:creationId xmlns:a16="http://schemas.microsoft.com/office/drawing/2014/main" id="{59D92D1E-DA2D-4526-B1A1-4C77BD9B7AD2}"/>
              </a:ext>
            </a:extLst>
          </p:cNvPr>
          <p:cNvSpPr>
            <a:spLocks xmlns:a="http://schemas.openxmlformats.org/drawingml/2006/main" noGrp="1"/>
          </p:cNvSpPr>
          <p:nvPr/>
        </p:nvSpPr>
        <p:spPr>
          <a:xfrm xmlns:a="http://schemas.openxmlformats.org/drawingml/2006/main">
            <a:off x="8801100" y="4524375"/>
            <a:ext cx="280987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4F5E68"/>
                </a:solidFill>
                <a:latin typeface="Arial"/>
                <a:ea typeface="Arial"/>
                <a:cs typeface="Arial"/>
              </a:defRPr>
            </a:defPPr>
            <a:lvl1pPr>
              <a:defRPr sz="1275" b="0">
                <a:solidFill>
                  <a:srgbClr val="4F5E68"/>
                </a:solidFill>
                <a:latin typeface="Arial"/>
                <a:ea typeface="Arial"/>
                <a:cs typeface="Arial"/>
              </a:defRPr>
            </a:lvl1pPr>
            <a:lvl2pPr>
              <a:defRPr sz="1275" b="0">
                <a:solidFill>
                  <a:srgbClr val="4F5E68"/>
                </a:solidFill>
                <a:latin typeface="Arial"/>
                <a:ea typeface="Arial"/>
                <a:cs typeface="Arial"/>
              </a:defRPr>
            </a:lvl2pPr>
            <a:lvl3pPr>
              <a:defRPr sz="1275" b="0">
                <a:solidFill>
                  <a:srgbClr val="4F5E68"/>
                </a:solidFill>
                <a:latin typeface="Arial"/>
                <a:ea typeface="Arial"/>
                <a:cs typeface="Arial"/>
              </a:defRPr>
            </a:lvl3pPr>
            <a:lvl4pPr>
              <a:defRPr sz="1275" b="0">
                <a:solidFill>
                  <a:srgbClr val="4F5E68"/>
                </a:solidFill>
                <a:latin typeface="Arial"/>
                <a:ea typeface="Arial"/>
                <a:cs typeface="Arial"/>
              </a:defRPr>
            </a:lvl4pPr>
            <a:lvl5pPr>
              <a:defRPr sz="1275" b="0">
                <a:solidFill>
                  <a:srgbClr val="4F5E68"/>
                </a:solidFill>
                <a:latin typeface="Arial"/>
                <a:ea typeface="Arial"/>
                <a:cs typeface="Arial"/>
              </a:defRPr>
            </a:lvl5pPr>
            <a:lvl6pPr>
              <a:defRPr sz="1275" b="0">
                <a:solidFill>
                  <a:srgbClr val="4F5E68"/>
                </a:solidFill>
                <a:latin typeface="Arial"/>
                <a:ea typeface="Arial"/>
                <a:cs typeface="Arial"/>
              </a:defRPr>
            </a:lvl6pPr>
            <a:lvl7pPr>
              <a:defRPr sz="1275" b="0">
                <a:solidFill>
                  <a:srgbClr val="4F5E68"/>
                </a:solidFill>
                <a:latin typeface="Arial"/>
                <a:ea typeface="Arial"/>
                <a:cs typeface="Arial"/>
              </a:defRPr>
            </a:lvl7pPr>
            <a:lvl8pPr>
              <a:defRPr sz="1275" b="0">
                <a:solidFill>
                  <a:srgbClr val="4F5E68"/>
                </a:solidFill>
                <a:latin typeface="Arial"/>
                <a:ea typeface="Arial"/>
                <a:cs typeface="Arial"/>
              </a:defRPr>
            </a:lvl8pPr>
            <a:lvl9pPr>
              <a:defRPr sz="1275" b="0">
                <a:solidFill>
                  <a:srgbClr val="4F5E68"/>
                </a:solidFill>
                <a:latin typeface="Arial"/>
                <a:ea typeface="Arial"/>
                <a:cs typeface="Arial"/>
              </a:defRPr>
            </a:lvl9pPr>
          </a:lstStyle>
          <a:p xmlns:a="http://schemas.openxmlformats.org/drawingml/2006/main">
            <a:pPr>
              <a:defRPr sz="1275" b="0">
                <a:solidFill>
                  <a:srgbClr val="4F5E68"/>
                </a:solidFill>
                <a:latin typeface="Arial"/>
                <a:ea typeface="Arial"/>
                <a:cs typeface="Arial"/>
              </a:defRPr>
            </a:pPr>
            <a:r>
              <a:rPr sz="1275" b="0">
                <a:solidFill>
                  <a:srgbClr val="4F5E68"/>
                </a:solidFill>
                <a:latin typeface="Arial"/>
                <a:ea typeface="Arial"/>
                <a:cs typeface="Arial"/>
              </a:rPr>
              <a:t>The MSC controls generator torque and current. The GSC regulates the DC link and grid current through the PLL.</a:t>
            </a:r>
          </a:p>
        </p:txBody>
      </p:sp>
      <p:sp>
        <p:nvSpPr>
          <p:cNvPr id="11" name="">
            <a:extLst xmlns:a="http://schemas.openxmlformats.org/drawingml/2006/main">
              <a:ext uri="{FF2B5EF4-FFF2-40B4-BE49-F238E27FC236}">
                <a16:creationId xmlns:a16="http://schemas.microsoft.com/office/drawing/2014/main" id="{D38EB7FC-A00F-4092-9357-668D3F52DA84}"/>
              </a:ext>
            </a:extLst>
          </p:cNvPr>
          <p:cNvSpPr>
            <a:spLocks xmlns:a="http://schemas.openxmlformats.org/drawingml/2006/main" noGrp="1"/>
          </p:cNvSpPr>
          <p:nvPr/>
        </p:nvSpPr>
        <p:spPr>
          <a:xfrm xmlns:a="http://schemas.openxmlformats.org/drawingml/2006/main">
            <a:off x="8801100" y="5743575"/>
            <a:ext cx="2809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C46A28"/>
                </a:solidFill>
                <a:latin typeface="Arial"/>
                <a:ea typeface="Arial"/>
                <a:cs typeface="Arial"/>
              </a:defRPr>
            </a:defPPr>
            <a:lvl1pPr>
              <a:defRPr sz="1125" b="1">
                <a:solidFill>
                  <a:srgbClr val="C46A28"/>
                </a:solidFill>
                <a:latin typeface="Arial"/>
                <a:ea typeface="Arial"/>
                <a:cs typeface="Arial"/>
              </a:defRPr>
            </a:lvl1pPr>
            <a:lvl2pPr>
              <a:defRPr sz="1125" b="1">
                <a:solidFill>
                  <a:srgbClr val="C46A28"/>
                </a:solidFill>
                <a:latin typeface="Arial"/>
                <a:ea typeface="Arial"/>
                <a:cs typeface="Arial"/>
              </a:defRPr>
            </a:lvl2pPr>
            <a:lvl3pPr>
              <a:defRPr sz="1125" b="1">
                <a:solidFill>
                  <a:srgbClr val="C46A28"/>
                </a:solidFill>
                <a:latin typeface="Arial"/>
                <a:ea typeface="Arial"/>
                <a:cs typeface="Arial"/>
              </a:defRPr>
            </a:lvl3pPr>
            <a:lvl4pPr>
              <a:defRPr sz="1125" b="1">
                <a:solidFill>
                  <a:srgbClr val="C46A28"/>
                </a:solidFill>
                <a:latin typeface="Arial"/>
                <a:ea typeface="Arial"/>
                <a:cs typeface="Arial"/>
              </a:defRPr>
            </a:lvl4pPr>
            <a:lvl5pPr>
              <a:defRPr sz="1125" b="1">
                <a:solidFill>
                  <a:srgbClr val="C46A28"/>
                </a:solidFill>
                <a:latin typeface="Arial"/>
                <a:ea typeface="Arial"/>
                <a:cs typeface="Arial"/>
              </a:defRPr>
            </a:lvl5pPr>
            <a:lvl6pPr>
              <a:defRPr sz="1125" b="1">
                <a:solidFill>
                  <a:srgbClr val="C46A28"/>
                </a:solidFill>
                <a:latin typeface="Arial"/>
                <a:ea typeface="Arial"/>
                <a:cs typeface="Arial"/>
              </a:defRPr>
            </a:lvl6pPr>
            <a:lvl7pPr>
              <a:defRPr sz="1125" b="1">
                <a:solidFill>
                  <a:srgbClr val="C46A28"/>
                </a:solidFill>
                <a:latin typeface="Arial"/>
                <a:ea typeface="Arial"/>
                <a:cs typeface="Arial"/>
              </a:defRPr>
            </a:lvl7pPr>
            <a:lvl8pPr>
              <a:defRPr sz="1125" b="1">
                <a:solidFill>
                  <a:srgbClr val="C46A28"/>
                </a:solidFill>
                <a:latin typeface="Arial"/>
                <a:ea typeface="Arial"/>
                <a:cs typeface="Arial"/>
              </a:defRPr>
            </a:lvl8pPr>
            <a:lvl9pPr>
              <a:defRPr sz="1125" b="1">
                <a:solidFill>
                  <a:srgbClr val="C46A28"/>
                </a:solidFill>
                <a:latin typeface="Arial"/>
                <a:ea typeface="Arial"/>
                <a:cs typeface="Arial"/>
              </a:defRPr>
            </a:lvl9pPr>
          </a:lstStyle>
          <a:p xmlns:a="http://schemas.openxmlformats.org/drawingml/2006/main">
            <a:pPr>
              <a:defRPr sz="1125" b="1">
                <a:solidFill>
                  <a:srgbClr val="C46A28"/>
                </a:solidFill>
                <a:latin typeface="Arial"/>
                <a:ea typeface="Arial"/>
                <a:cs typeface="Arial"/>
              </a:defRPr>
            </a:pPr>
            <a:r>
              <a:rPr sz="1125" b="1">
                <a:solidFill>
                  <a:srgbClr val="C46A28"/>
                </a:solidFill>
                <a:latin typeface="Arial"/>
                <a:ea typeface="Arial"/>
                <a:cs typeface="Arial"/>
              </a:rPr>
              <a:t>Native equipment; averaged converters</a:t>
            </a:r>
          </a:p>
        </p:txBody>
      </p:sp>
    </p:spTree>
    <p:extLst>
      <p:ext uri="{BB962C8B-B14F-4D97-AF65-F5344CB8AC3E}">
        <p14:creationId xmlns:p14="http://schemas.microsoft.com/office/powerpoint/2010/main" val="212424832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BB0D67A-F698-4BD7-9EA3-A388A590A060}"/>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132B4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3D2E9B0-A402-4420-8CD9-3B405E2E1173}"/>
              </a:ext>
            </a:extLst>
          </p:cNvPr>
          <p:cNvSpPr>
            <a:spLocks xmlns:a="http://schemas.openxmlformats.org/drawingml/2006/main" noGrp="1"/>
          </p:cNvSpPr>
          <p:nvPr/>
        </p:nvSpPr>
        <p:spPr>
          <a:xfrm xmlns:a="http://schemas.openxmlformats.org/drawingml/2006/main">
            <a:off x="457200" y="323850"/>
            <a:ext cx="11239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32B43"/>
                </a:solidFill>
                <a:latin typeface="Arial"/>
                <a:ea typeface="Arial"/>
                <a:cs typeface="Arial"/>
              </a:defRPr>
            </a:defPPr>
            <a:lvl1pPr>
              <a:defRPr sz="2625" b="1">
                <a:solidFill>
                  <a:srgbClr val="132B43"/>
                </a:solidFill>
                <a:latin typeface="Arial"/>
                <a:ea typeface="Arial"/>
                <a:cs typeface="Arial"/>
              </a:defRPr>
            </a:lvl1pPr>
            <a:lvl2pPr>
              <a:defRPr sz="2625" b="1">
                <a:solidFill>
                  <a:srgbClr val="132B43"/>
                </a:solidFill>
                <a:latin typeface="Arial"/>
                <a:ea typeface="Arial"/>
                <a:cs typeface="Arial"/>
              </a:defRPr>
            </a:lvl2pPr>
            <a:lvl3pPr>
              <a:defRPr sz="2625" b="1">
                <a:solidFill>
                  <a:srgbClr val="132B43"/>
                </a:solidFill>
                <a:latin typeface="Arial"/>
                <a:ea typeface="Arial"/>
                <a:cs typeface="Arial"/>
              </a:defRPr>
            </a:lvl3pPr>
            <a:lvl4pPr>
              <a:defRPr sz="2625" b="1">
                <a:solidFill>
                  <a:srgbClr val="132B43"/>
                </a:solidFill>
                <a:latin typeface="Arial"/>
                <a:ea typeface="Arial"/>
                <a:cs typeface="Arial"/>
              </a:defRPr>
            </a:lvl4pPr>
            <a:lvl5pPr>
              <a:defRPr sz="2625" b="1">
                <a:solidFill>
                  <a:srgbClr val="132B43"/>
                </a:solidFill>
                <a:latin typeface="Arial"/>
                <a:ea typeface="Arial"/>
                <a:cs typeface="Arial"/>
              </a:defRPr>
            </a:lvl5pPr>
            <a:lvl6pPr>
              <a:defRPr sz="2625" b="1">
                <a:solidFill>
                  <a:srgbClr val="132B43"/>
                </a:solidFill>
                <a:latin typeface="Arial"/>
                <a:ea typeface="Arial"/>
                <a:cs typeface="Arial"/>
              </a:defRPr>
            </a:lvl6pPr>
            <a:lvl7pPr>
              <a:defRPr sz="2625" b="1">
                <a:solidFill>
                  <a:srgbClr val="132B43"/>
                </a:solidFill>
                <a:latin typeface="Arial"/>
                <a:ea typeface="Arial"/>
                <a:cs typeface="Arial"/>
              </a:defRPr>
            </a:lvl7pPr>
            <a:lvl8pPr>
              <a:defRPr sz="2625" b="1">
                <a:solidFill>
                  <a:srgbClr val="132B43"/>
                </a:solidFill>
                <a:latin typeface="Arial"/>
                <a:ea typeface="Arial"/>
                <a:cs typeface="Arial"/>
              </a:defRPr>
            </a:lvl8pPr>
            <a:lvl9pPr>
              <a:defRPr sz="2625" b="1">
                <a:solidFill>
                  <a:srgbClr val="132B43"/>
                </a:solidFill>
                <a:latin typeface="Arial"/>
                <a:ea typeface="Arial"/>
                <a:cs typeface="Arial"/>
              </a:defRPr>
            </a:lvl9pPr>
          </a:lstStyle>
          <a:p xmlns:a="http://schemas.openxmlformats.org/drawingml/2006/main">
            <a:pPr>
              <a:defRPr sz="2625" b="1">
                <a:solidFill>
                  <a:srgbClr val="132B43"/>
                </a:solidFill>
                <a:latin typeface="Arial"/>
                <a:ea typeface="Arial"/>
                <a:cs typeface="Arial"/>
              </a:defRPr>
            </a:pPr>
            <a:r>
              <a:rPr sz="2625" b="1">
                <a:solidFill>
                  <a:srgbClr val="132B43"/>
                </a:solidFill>
                <a:latin typeface="Arial"/>
                <a:ea typeface="Arial"/>
                <a:cs typeface="Arial"/>
              </a:rPr>
              <a:t>Converter Control, Grid Interaction and Subsynchronous Oscillation</a:t>
            </a:r>
          </a:p>
        </p:txBody>
      </p:sp>
      <p:sp>
        <p:nvSpPr>
          <p:cNvPr id="3" name="">
            <a:extLst xmlns:a="http://schemas.openxmlformats.org/drawingml/2006/main">
              <a:ext uri="{FF2B5EF4-FFF2-40B4-BE49-F238E27FC236}">
                <a16:creationId xmlns:a16="http://schemas.microsoft.com/office/drawing/2014/main" id="{228719CD-4D93-491B-B88D-E442F56A99F2}"/>
              </a:ext>
            </a:extLst>
          </p:cNvPr>
          <p:cNvSpPr>
            <a:spLocks xmlns:a="http://schemas.openxmlformats.org/drawingml/2006/main" noGrp="1"/>
          </p:cNvSpPr>
          <p:nvPr/>
        </p:nvSpPr>
        <p:spPr>
          <a:xfrm xmlns:a="http://schemas.openxmlformats.org/drawingml/2006/main">
            <a:off x="457200" y="1000125"/>
            <a:ext cx="11277600" cy="19050"/>
          </a:xfrm>
          <a:prstGeom xmlns:a="http://schemas.openxmlformats.org/drawingml/2006/main" prst="rect">
            <a:avLst/>
          </a:prstGeom>
          <a:solidFill xmlns:a="http://schemas.openxmlformats.org/drawingml/2006/main">
            <a:srgbClr val="DCE4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72BFA6F-6E6C-4570-BB48-925483F89F61}"/>
              </a:ext>
            </a:extLst>
          </p:cNvPr>
          <p:cNvSpPr>
            <a:spLocks xmlns:a="http://schemas.openxmlformats.org/drawingml/2006/main" noGrp="1"/>
          </p:cNvSpPr>
          <p:nvPr/>
        </p:nvSpPr>
        <p:spPr>
          <a:xfrm xmlns:a="http://schemas.openxmlformats.org/drawingml/2006/main">
            <a:off x="457200" y="6477000"/>
            <a:ext cx="1123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4F5E68"/>
                </a:solidFill>
                <a:latin typeface="Arial"/>
                <a:ea typeface="Arial"/>
                <a:cs typeface="Arial"/>
              </a:defRPr>
            </a:defPPr>
            <a:lvl1pPr>
              <a:defRPr sz="975" b="0">
                <a:solidFill>
                  <a:srgbClr val="4F5E68"/>
                </a:solidFill>
                <a:latin typeface="Arial"/>
                <a:ea typeface="Arial"/>
                <a:cs typeface="Arial"/>
              </a:defRPr>
            </a:lvl1pPr>
            <a:lvl2pPr>
              <a:defRPr sz="975" b="0">
                <a:solidFill>
                  <a:srgbClr val="4F5E68"/>
                </a:solidFill>
                <a:latin typeface="Arial"/>
                <a:ea typeface="Arial"/>
                <a:cs typeface="Arial"/>
              </a:defRPr>
            </a:lvl2pPr>
            <a:lvl3pPr>
              <a:defRPr sz="975" b="0">
                <a:solidFill>
                  <a:srgbClr val="4F5E68"/>
                </a:solidFill>
                <a:latin typeface="Arial"/>
                <a:ea typeface="Arial"/>
                <a:cs typeface="Arial"/>
              </a:defRPr>
            </a:lvl3pPr>
            <a:lvl4pPr>
              <a:defRPr sz="975" b="0">
                <a:solidFill>
                  <a:srgbClr val="4F5E68"/>
                </a:solidFill>
                <a:latin typeface="Arial"/>
                <a:ea typeface="Arial"/>
                <a:cs typeface="Arial"/>
              </a:defRPr>
            </a:lvl4pPr>
            <a:lvl5pPr>
              <a:defRPr sz="975" b="0">
                <a:solidFill>
                  <a:srgbClr val="4F5E68"/>
                </a:solidFill>
                <a:latin typeface="Arial"/>
                <a:ea typeface="Arial"/>
                <a:cs typeface="Arial"/>
              </a:defRPr>
            </a:lvl5pPr>
            <a:lvl6pPr>
              <a:defRPr sz="975" b="0">
                <a:solidFill>
                  <a:srgbClr val="4F5E68"/>
                </a:solidFill>
                <a:latin typeface="Arial"/>
                <a:ea typeface="Arial"/>
                <a:cs typeface="Arial"/>
              </a:defRPr>
            </a:lvl6pPr>
            <a:lvl7pPr>
              <a:defRPr sz="975" b="0">
                <a:solidFill>
                  <a:srgbClr val="4F5E68"/>
                </a:solidFill>
                <a:latin typeface="Arial"/>
                <a:ea typeface="Arial"/>
                <a:cs typeface="Arial"/>
              </a:defRPr>
            </a:lvl7pPr>
            <a:lvl8pPr>
              <a:defRPr sz="975" b="0">
                <a:solidFill>
                  <a:srgbClr val="4F5E68"/>
                </a:solidFill>
                <a:latin typeface="Arial"/>
                <a:ea typeface="Arial"/>
                <a:cs typeface="Arial"/>
              </a:defRPr>
            </a:lvl8pPr>
            <a:lvl9pPr>
              <a:defRPr sz="975" b="0">
                <a:solidFill>
                  <a:srgbClr val="4F5E68"/>
                </a:solidFill>
                <a:latin typeface="Arial"/>
                <a:ea typeface="Arial"/>
                <a:cs typeface="Arial"/>
              </a:defRPr>
            </a:lvl9pPr>
          </a:lstStyle>
          <a:p xmlns:a="http://schemas.openxmlformats.org/drawingml/2006/main">
            <a:pPr>
              <a:defRPr sz="975" b="0">
                <a:solidFill>
                  <a:srgbClr val="4F5E68"/>
                </a:solidFill>
                <a:latin typeface="Arial"/>
                <a:ea typeface="Arial"/>
                <a:cs typeface="Arial"/>
              </a:defRPr>
            </a:pPr>
            <a:r>
              <a:rPr sz="975" b="0">
                <a:solidFill>
                  <a:srgbClr val="4F5E68"/>
                </a:solidFill>
                <a:latin typeface="Arial"/>
                <a:ea typeface="Arial"/>
                <a:cs typeface="Arial"/>
              </a:rPr>
              <a:t>VATaleni PMSG–SSO  |  2/3</a:t>
            </a:r>
          </a:p>
        </p:txBody>
      </p:sp>
      <p:sp>
        <p:nvSpPr>
          <p:cNvPr id="5" name="">
            <a:extLst xmlns:a="http://schemas.openxmlformats.org/drawingml/2006/main">
              <a:ext uri="{FF2B5EF4-FFF2-40B4-BE49-F238E27FC236}">
                <a16:creationId xmlns:a16="http://schemas.microsoft.com/office/drawing/2014/main" id="{E9BFBC8D-D277-4ED8-9624-4BE3C05AD1FF}"/>
              </a:ext>
            </a:extLst>
          </p:cNvPr>
          <p:cNvSpPr>
            <a:spLocks xmlns:a="http://schemas.openxmlformats.org/drawingml/2006/main" noGrp="1"/>
          </p:cNvSpPr>
          <p:nvPr/>
        </p:nvSpPr>
        <p:spPr>
          <a:xfrm xmlns:a="http://schemas.openxmlformats.org/drawingml/2006/main">
            <a:off x="476250" y="1209675"/>
            <a:ext cx="5334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315D79"/>
                </a:solidFill>
                <a:latin typeface="Arial"/>
                <a:ea typeface="Arial"/>
                <a:cs typeface="Arial"/>
              </a:defRPr>
            </a:defPPr>
            <a:lvl1pPr>
              <a:defRPr sz="1275" b="1">
                <a:solidFill>
                  <a:srgbClr val="315D79"/>
                </a:solidFill>
                <a:latin typeface="Arial"/>
                <a:ea typeface="Arial"/>
                <a:cs typeface="Arial"/>
              </a:defRPr>
            </a:lvl1pPr>
            <a:lvl2pPr>
              <a:defRPr sz="1275" b="1">
                <a:solidFill>
                  <a:srgbClr val="315D79"/>
                </a:solidFill>
                <a:latin typeface="Arial"/>
                <a:ea typeface="Arial"/>
                <a:cs typeface="Arial"/>
              </a:defRPr>
            </a:lvl2pPr>
            <a:lvl3pPr>
              <a:defRPr sz="1275" b="1">
                <a:solidFill>
                  <a:srgbClr val="315D79"/>
                </a:solidFill>
                <a:latin typeface="Arial"/>
                <a:ea typeface="Arial"/>
                <a:cs typeface="Arial"/>
              </a:defRPr>
            </a:lvl3pPr>
            <a:lvl4pPr>
              <a:defRPr sz="1275" b="1">
                <a:solidFill>
                  <a:srgbClr val="315D79"/>
                </a:solidFill>
                <a:latin typeface="Arial"/>
                <a:ea typeface="Arial"/>
                <a:cs typeface="Arial"/>
              </a:defRPr>
            </a:lvl4pPr>
            <a:lvl5pPr>
              <a:defRPr sz="1275" b="1">
                <a:solidFill>
                  <a:srgbClr val="315D79"/>
                </a:solidFill>
                <a:latin typeface="Arial"/>
                <a:ea typeface="Arial"/>
                <a:cs typeface="Arial"/>
              </a:defRPr>
            </a:lvl5pPr>
            <a:lvl6pPr>
              <a:defRPr sz="1275" b="1">
                <a:solidFill>
                  <a:srgbClr val="315D79"/>
                </a:solidFill>
                <a:latin typeface="Arial"/>
                <a:ea typeface="Arial"/>
                <a:cs typeface="Arial"/>
              </a:defRPr>
            </a:lvl6pPr>
            <a:lvl7pPr>
              <a:defRPr sz="1275" b="1">
                <a:solidFill>
                  <a:srgbClr val="315D79"/>
                </a:solidFill>
                <a:latin typeface="Arial"/>
                <a:ea typeface="Arial"/>
                <a:cs typeface="Arial"/>
              </a:defRPr>
            </a:lvl7pPr>
            <a:lvl8pPr>
              <a:defRPr sz="1275" b="1">
                <a:solidFill>
                  <a:srgbClr val="315D79"/>
                </a:solidFill>
                <a:latin typeface="Arial"/>
                <a:ea typeface="Arial"/>
                <a:cs typeface="Arial"/>
              </a:defRPr>
            </a:lvl8pPr>
            <a:lvl9pPr>
              <a:defRPr sz="1275" b="1">
                <a:solidFill>
                  <a:srgbClr val="315D79"/>
                </a:solidFill>
                <a:latin typeface="Arial"/>
                <a:ea typeface="Arial"/>
                <a:cs typeface="Arial"/>
              </a:defRPr>
            </a:lvl9pPr>
          </a:lstStyle>
          <a:p xmlns:a="http://schemas.openxmlformats.org/drawingml/2006/main">
            <a:pPr>
              <a:defRPr sz="1275" b="1">
                <a:solidFill>
                  <a:srgbClr val="315D79"/>
                </a:solidFill>
                <a:latin typeface="Arial"/>
                <a:ea typeface="Arial"/>
                <a:cs typeface="Arial"/>
              </a:defRPr>
            </a:pPr>
            <a:r>
              <a:rPr sz="1275" b="1">
                <a:solidFill>
                  <a:srgbClr val="315D79"/>
                </a:solidFill>
                <a:latin typeface="Arial"/>
                <a:ea typeface="Arial"/>
                <a:cs typeface="Arial"/>
              </a:rPr>
              <a:t>MACHINE-SIDE SPEED + d/q CURRENT LOOPS</a:t>
            </a:r>
          </a:p>
        </p:txBody>
      </p:sp>
      <p:sp>
        <p:nvSpPr>
          <p:cNvPr id="6" name="">
            <a:extLst xmlns:a="http://schemas.openxmlformats.org/drawingml/2006/main">
              <a:ext uri="{FF2B5EF4-FFF2-40B4-BE49-F238E27FC236}">
                <a16:creationId xmlns:a16="http://schemas.microsoft.com/office/drawing/2014/main" id="{8267BADE-C3FC-4A9D-A819-77D58055371E}"/>
              </a:ext>
            </a:extLst>
          </p:cNvPr>
          <p:cNvSpPr>
            <a:spLocks xmlns:a="http://schemas.openxmlformats.org/drawingml/2006/main" noGrp="1"/>
          </p:cNvSpPr>
          <p:nvPr/>
        </p:nvSpPr>
        <p:spPr>
          <a:xfrm xmlns:a="http://schemas.openxmlformats.org/drawingml/2006/main">
            <a:off x="6210300" y="1209675"/>
            <a:ext cx="5334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315D79"/>
                </a:solidFill>
                <a:latin typeface="Arial"/>
                <a:ea typeface="Arial"/>
                <a:cs typeface="Arial"/>
              </a:defRPr>
            </a:defPPr>
            <a:lvl1pPr>
              <a:defRPr sz="1275" b="1">
                <a:solidFill>
                  <a:srgbClr val="315D79"/>
                </a:solidFill>
                <a:latin typeface="Arial"/>
                <a:ea typeface="Arial"/>
                <a:cs typeface="Arial"/>
              </a:defRPr>
            </a:lvl1pPr>
            <a:lvl2pPr>
              <a:defRPr sz="1275" b="1">
                <a:solidFill>
                  <a:srgbClr val="315D79"/>
                </a:solidFill>
                <a:latin typeface="Arial"/>
                <a:ea typeface="Arial"/>
                <a:cs typeface="Arial"/>
              </a:defRPr>
            </a:lvl2pPr>
            <a:lvl3pPr>
              <a:defRPr sz="1275" b="1">
                <a:solidFill>
                  <a:srgbClr val="315D79"/>
                </a:solidFill>
                <a:latin typeface="Arial"/>
                <a:ea typeface="Arial"/>
                <a:cs typeface="Arial"/>
              </a:defRPr>
            </a:lvl3pPr>
            <a:lvl4pPr>
              <a:defRPr sz="1275" b="1">
                <a:solidFill>
                  <a:srgbClr val="315D79"/>
                </a:solidFill>
                <a:latin typeface="Arial"/>
                <a:ea typeface="Arial"/>
                <a:cs typeface="Arial"/>
              </a:defRPr>
            </a:lvl4pPr>
            <a:lvl5pPr>
              <a:defRPr sz="1275" b="1">
                <a:solidFill>
                  <a:srgbClr val="315D79"/>
                </a:solidFill>
                <a:latin typeface="Arial"/>
                <a:ea typeface="Arial"/>
                <a:cs typeface="Arial"/>
              </a:defRPr>
            </a:lvl5pPr>
            <a:lvl6pPr>
              <a:defRPr sz="1275" b="1">
                <a:solidFill>
                  <a:srgbClr val="315D79"/>
                </a:solidFill>
                <a:latin typeface="Arial"/>
                <a:ea typeface="Arial"/>
                <a:cs typeface="Arial"/>
              </a:defRPr>
            </a:lvl6pPr>
            <a:lvl7pPr>
              <a:defRPr sz="1275" b="1">
                <a:solidFill>
                  <a:srgbClr val="315D79"/>
                </a:solidFill>
                <a:latin typeface="Arial"/>
                <a:ea typeface="Arial"/>
                <a:cs typeface="Arial"/>
              </a:defRPr>
            </a:lvl7pPr>
            <a:lvl8pPr>
              <a:defRPr sz="1275" b="1">
                <a:solidFill>
                  <a:srgbClr val="315D79"/>
                </a:solidFill>
                <a:latin typeface="Arial"/>
                <a:ea typeface="Arial"/>
                <a:cs typeface="Arial"/>
              </a:defRPr>
            </a:lvl8pPr>
            <a:lvl9pPr>
              <a:defRPr sz="1275" b="1">
                <a:solidFill>
                  <a:srgbClr val="315D79"/>
                </a:solidFill>
                <a:latin typeface="Arial"/>
                <a:ea typeface="Arial"/>
                <a:cs typeface="Arial"/>
              </a:defRPr>
            </a:lvl9pPr>
          </a:lstStyle>
          <a:p xmlns:a="http://schemas.openxmlformats.org/drawingml/2006/main">
            <a:pPr>
              <a:defRPr sz="1275" b="1">
                <a:solidFill>
                  <a:srgbClr val="315D79"/>
                </a:solidFill>
                <a:latin typeface="Arial"/>
                <a:ea typeface="Arial"/>
                <a:cs typeface="Arial"/>
              </a:defRPr>
            </a:pPr>
            <a:r>
              <a:rPr sz="1275" b="1">
                <a:solidFill>
                  <a:srgbClr val="315D79"/>
                </a:solidFill>
                <a:latin typeface="Arial"/>
                <a:ea typeface="Arial"/>
                <a:cs typeface="Arial"/>
              </a:rPr>
              <a:t>GRID-SIDE DC + d/q CURRENT + PLL LOOPS</a:t>
            </a:r>
          </a:p>
        </p:txBody>
      </p:sp>
      <p:pic>
        <p:nvPicPr>
          <p:cNvPr id="7" name="">
            <a:extLst xmlns:a="http://schemas.openxmlformats.org/drawingml/2006/main">
              <a:ext uri="{FF2B5EF4-FFF2-40B4-BE49-F238E27FC236}">
                <a16:creationId xmlns:a16="http://schemas.microsoft.com/office/drawing/2014/main" id="{0EC162FA-A85B-465D-9D08-148262AE7BDF}"/>
              </a:ext>
            </a:extLst>
          </p:cNvPr>
          <p:cNvPicPr>
            <a:picLocks xmlns:a="http://schemas.openxmlformats.org/drawingml/2006/main" noChangeAspect="1"/>
          </p:cNvPicPr>
          <p:nvPr/>
        </p:nvPicPr>
        <p:blipFill>
          <a:blip xmlns:r="http://schemas.openxmlformats.org/officeDocument/2006/relationships" xmlns:a="http://schemas.openxmlformats.org/drawingml/2006/main" r:embed="R3831f237d5a24d8d"/>
          <a:stretch xmlns:a="http://schemas.openxmlformats.org/drawingml/2006/main"/>
        </p:blipFill>
        <p:spPr>
          <a:xfrm xmlns:a="http://schemas.openxmlformats.org/drawingml/2006/main">
            <a:off x="925478" y="1552575"/>
            <a:ext cx="4387918" cy="32480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0BAD4E43-2031-4A6B-9015-D3BB099A91A5}"/>
              </a:ext>
            </a:extLst>
          </p:cNvPr>
          <p:cNvPicPr>
            <a:picLocks xmlns:a="http://schemas.openxmlformats.org/drawingml/2006/main" noChangeAspect="1"/>
          </p:cNvPicPr>
          <p:nvPr/>
        </p:nvPicPr>
        <p:blipFill>
          <a:blip xmlns:r="http://schemas.openxmlformats.org/officeDocument/2006/relationships" xmlns:a="http://schemas.openxmlformats.org/drawingml/2006/main" r:embed="R217548caa44f4470"/>
          <a:stretch xmlns:a="http://schemas.openxmlformats.org/drawingml/2006/main"/>
        </p:blipFill>
        <p:spPr>
          <a:xfrm xmlns:a="http://schemas.openxmlformats.org/drawingml/2006/main">
            <a:off x="7180177" y="1552575"/>
            <a:ext cx="3403772" cy="3248025"/>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809FCADC-B47E-4CB9-A78B-3CA39E6A6CDD}"/>
              </a:ext>
            </a:extLst>
          </p:cNvPr>
          <p:cNvPicPr>
            <a:picLocks xmlns:a="http://schemas.openxmlformats.org/drawingml/2006/main" noChangeAspect="1"/>
          </p:cNvPicPr>
          <p:nvPr/>
        </p:nvPicPr>
        <p:blipFill>
          <a:blip xmlns:r="http://schemas.openxmlformats.org/officeDocument/2006/relationships" xmlns:a="http://schemas.openxmlformats.org/drawingml/2006/main" r:embed="Re514b956cd8e4db6"/>
          <a:stretch xmlns:a="http://schemas.openxmlformats.org/drawingml/2006/main"/>
        </p:blipFill>
        <p:spPr>
          <a:xfrm xmlns:a="http://schemas.openxmlformats.org/drawingml/2006/main">
            <a:off x="1993847" y="4953000"/>
            <a:ext cx="2327381" cy="13811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364E621-C227-4114-9587-EBCE079716E4}"/>
              </a:ext>
            </a:extLst>
          </p:cNvPr>
          <p:cNvSpPr>
            <a:spLocks xmlns:a="http://schemas.openxmlformats.org/drawingml/2006/main" noGrp="1"/>
          </p:cNvSpPr>
          <p:nvPr/>
        </p:nvSpPr>
        <p:spPr>
          <a:xfrm xmlns:a="http://schemas.openxmlformats.org/drawingml/2006/main">
            <a:off x="6153150" y="5038725"/>
            <a:ext cx="5429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32B43"/>
                </a:solidFill>
                <a:latin typeface="Arial"/>
                <a:ea typeface="Arial"/>
                <a:cs typeface="Arial"/>
              </a:defRPr>
            </a:defPPr>
            <a:lvl1pPr>
              <a:defRPr sz="1425" b="0">
                <a:solidFill>
                  <a:srgbClr val="132B43"/>
                </a:solidFill>
                <a:latin typeface="Arial"/>
                <a:ea typeface="Arial"/>
                <a:cs typeface="Arial"/>
              </a:defRPr>
            </a:lvl1pPr>
            <a:lvl2pPr>
              <a:defRPr sz="1425" b="0">
                <a:solidFill>
                  <a:srgbClr val="132B43"/>
                </a:solidFill>
                <a:latin typeface="Arial"/>
                <a:ea typeface="Arial"/>
                <a:cs typeface="Arial"/>
              </a:defRPr>
            </a:lvl2pPr>
            <a:lvl3pPr>
              <a:defRPr sz="1425" b="0">
                <a:solidFill>
                  <a:srgbClr val="132B43"/>
                </a:solidFill>
                <a:latin typeface="Arial"/>
                <a:ea typeface="Arial"/>
                <a:cs typeface="Arial"/>
              </a:defRPr>
            </a:lvl3pPr>
            <a:lvl4pPr>
              <a:defRPr sz="1425" b="0">
                <a:solidFill>
                  <a:srgbClr val="132B43"/>
                </a:solidFill>
                <a:latin typeface="Arial"/>
                <a:ea typeface="Arial"/>
                <a:cs typeface="Arial"/>
              </a:defRPr>
            </a:lvl4pPr>
            <a:lvl5pPr>
              <a:defRPr sz="1425" b="0">
                <a:solidFill>
                  <a:srgbClr val="132B43"/>
                </a:solidFill>
                <a:latin typeface="Arial"/>
                <a:ea typeface="Arial"/>
                <a:cs typeface="Arial"/>
              </a:defRPr>
            </a:lvl5pPr>
            <a:lvl6pPr>
              <a:defRPr sz="1425" b="0">
                <a:solidFill>
                  <a:srgbClr val="132B43"/>
                </a:solidFill>
                <a:latin typeface="Arial"/>
                <a:ea typeface="Arial"/>
                <a:cs typeface="Arial"/>
              </a:defRPr>
            </a:lvl6pPr>
            <a:lvl7pPr>
              <a:defRPr sz="1425" b="0">
                <a:solidFill>
                  <a:srgbClr val="132B43"/>
                </a:solidFill>
                <a:latin typeface="Arial"/>
                <a:ea typeface="Arial"/>
                <a:cs typeface="Arial"/>
              </a:defRPr>
            </a:lvl7pPr>
            <a:lvl8pPr>
              <a:defRPr sz="1425" b="0">
                <a:solidFill>
                  <a:srgbClr val="132B43"/>
                </a:solidFill>
                <a:latin typeface="Arial"/>
                <a:ea typeface="Arial"/>
                <a:cs typeface="Arial"/>
              </a:defRPr>
            </a:lvl8pPr>
            <a:lvl9pPr>
              <a:defRPr sz="1425" b="0">
                <a:solidFill>
                  <a:srgbClr val="132B43"/>
                </a:solidFill>
                <a:latin typeface="Arial"/>
                <a:ea typeface="Arial"/>
                <a:cs typeface="Arial"/>
              </a:defRPr>
            </a:lvl9pPr>
          </a:lstStyle>
          <a:p xmlns:a="http://schemas.openxmlformats.org/drawingml/2006/main">
            <a:pPr>
              <a:defRPr sz="1425" b="0">
                <a:solidFill>
                  <a:srgbClr val="132B43"/>
                </a:solidFill>
                <a:latin typeface="Arial"/>
                <a:ea typeface="Arial"/>
                <a:cs typeface="Arial"/>
              </a:defRPr>
            </a:pPr>
            <a:r>
              <a:rPr sz="1425" b="0">
                <a:solidFill>
                  <a:srgbClr val="132B43"/>
                </a:solidFill>
                <a:latin typeface="Arial"/>
                <a:ea typeface="Arial"/>
                <a:cs typeface="Arial"/>
              </a:rPr>
              <a:t>At nominal external SCR 5, the same wind step excites a decaying 4.6–4.7 Hz network/controller mode. No oscillation is injected into the plant.</a:t>
            </a:r>
          </a:p>
        </p:txBody>
      </p:sp>
      <p:sp>
        <p:nvSpPr>
          <p:cNvPr id="11" name="">
            <a:extLst xmlns:a="http://schemas.openxmlformats.org/drawingml/2006/main">
              <a:ext uri="{FF2B5EF4-FFF2-40B4-BE49-F238E27FC236}">
                <a16:creationId xmlns:a16="http://schemas.microsoft.com/office/drawing/2014/main" id="{E23D1832-B7FA-4486-B49E-82DBBE9CB9F9}"/>
              </a:ext>
            </a:extLst>
          </p:cNvPr>
          <p:cNvSpPr>
            <a:spLocks xmlns:a="http://schemas.openxmlformats.org/drawingml/2006/main" noGrp="1"/>
          </p:cNvSpPr>
          <p:nvPr/>
        </p:nvSpPr>
        <p:spPr>
          <a:xfrm xmlns:a="http://schemas.openxmlformats.org/drawingml/2006/main">
            <a:off x="6153150" y="6048375"/>
            <a:ext cx="5429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C46A28"/>
                </a:solidFill>
                <a:latin typeface="Arial"/>
                <a:ea typeface="Arial"/>
                <a:cs typeface="Arial"/>
              </a:defRPr>
            </a:defPPr>
            <a:lvl1pPr>
              <a:defRPr sz="1275" b="1">
                <a:solidFill>
                  <a:srgbClr val="C46A28"/>
                </a:solidFill>
                <a:latin typeface="Arial"/>
                <a:ea typeface="Arial"/>
                <a:cs typeface="Arial"/>
              </a:defRPr>
            </a:lvl1pPr>
            <a:lvl2pPr>
              <a:defRPr sz="1275" b="1">
                <a:solidFill>
                  <a:srgbClr val="C46A28"/>
                </a:solidFill>
                <a:latin typeface="Arial"/>
                <a:ea typeface="Arial"/>
                <a:cs typeface="Arial"/>
              </a:defRPr>
            </a:lvl2pPr>
            <a:lvl3pPr>
              <a:defRPr sz="1275" b="1">
                <a:solidFill>
                  <a:srgbClr val="C46A28"/>
                </a:solidFill>
                <a:latin typeface="Arial"/>
                <a:ea typeface="Arial"/>
                <a:cs typeface="Arial"/>
              </a:defRPr>
            </a:lvl3pPr>
            <a:lvl4pPr>
              <a:defRPr sz="1275" b="1">
                <a:solidFill>
                  <a:srgbClr val="C46A28"/>
                </a:solidFill>
                <a:latin typeface="Arial"/>
                <a:ea typeface="Arial"/>
                <a:cs typeface="Arial"/>
              </a:defRPr>
            </a:lvl4pPr>
            <a:lvl5pPr>
              <a:defRPr sz="1275" b="1">
                <a:solidFill>
                  <a:srgbClr val="C46A28"/>
                </a:solidFill>
                <a:latin typeface="Arial"/>
                <a:ea typeface="Arial"/>
                <a:cs typeface="Arial"/>
              </a:defRPr>
            </a:lvl5pPr>
            <a:lvl6pPr>
              <a:defRPr sz="1275" b="1">
                <a:solidFill>
                  <a:srgbClr val="C46A28"/>
                </a:solidFill>
                <a:latin typeface="Arial"/>
                <a:ea typeface="Arial"/>
                <a:cs typeface="Arial"/>
              </a:defRPr>
            </a:lvl6pPr>
            <a:lvl7pPr>
              <a:defRPr sz="1275" b="1">
                <a:solidFill>
                  <a:srgbClr val="C46A28"/>
                </a:solidFill>
                <a:latin typeface="Arial"/>
                <a:ea typeface="Arial"/>
                <a:cs typeface="Arial"/>
              </a:defRPr>
            </a:lvl7pPr>
            <a:lvl8pPr>
              <a:defRPr sz="1275" b="1">
                <a:solidFill>
                  <a:srgbClr val="C46A28"/>
                </a:solidFill>
                <a:latin typeface="Arial"/>
                <a:ea typeface="Arial"/>
                <a:cs typeface="Arial"/>
              </a:defRPr>
            </a:lvl8pPr>
            <a:lvl9pPr>
              <a:defRPr sz="1275" b="1">
                <a:solidFill>
                  <a:srgbClr val="C46A28"/>
                </a:solidFill>
                <a:latin typeface="Arial"/>
                <a:ea typeface="Arial"/>
                <a:cs typeface="Arial"/>
              </a:defRPr>
            </a:lvl9pPr>
          </a:lstStyle>
          <a:p xmlns:a="http://schemas.openxmlformats.org/drawingml/2006/main">
            <a:pPr>
              <a:defRPr sz="1275" b="1">
                <a:solidFill>
                  <a:srgbClr val="C46A28"/>
                </a:solidFill>
                <a:latin typeface="Arial"/>
                <a:ea typeface="Arial"/>
                <a:cs typeface="Arial"/>
              </a:defRPr>
            </a:pPr>
            <a:r>
              <a:rPr sz="1275" b="1">
                <a:solidFill>
                  <a:srgbClr val="C46A28"/>
                </a:solidFill>
                <a:latin typeface="Arial"/>
                <a:ea typeface="Arial"/>
                <a:cs typeface="Arial"/>
              </a:rPr>
              <a:t>Measured peak: 4.681 Hz  •  Snapshot damping: 5.24%</a:t>
            </a:r>
          </a:p>
        </p:txBody>
      </p:sp>
    </p:spTree>
    <p:extLst>
      <p:ext uri="{BB962C8B-B14F-4D97-AF65-F5344CB8AC3E}">
        <p14:creationId xmlns:p14="http://schemas.microsoft.com/office/powerpoint/2010/main" val="138558552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B08914E-C8BF-4AF5-9759-3B45226EA878}"/>
              </a:ext>
            </a:extLst>
          </p:cNvPr>
          <p:cNvSpPr>
            <a:spLocks xmlns:a="http://schemas.openxmlformats.org/drawingml/2006/main" noGrp="1"/>
          </p:cNvSpPr>
          <p:nvPr/>
        </p:nvSpPr>
        <p:spPr>
          <a:xfrm xmlns:a="http://schemas.openxmlformats.org/drawingml/2006/main">
            <a:off x="0" y="0"/>
            <a:ext cx="12192000" cy="104775"/>
          </a:xfrm>
          <a:prstGeom xmlns:a="http://schemas.openxmlformats.org/drawingml/2006/main" prst="rect">
            <a:avLst/>
          </a:prstGeom>
          <a:solidFill xmlns:a="http://schemas.openxmlformats.org/drawingml/2006/main">
            <a:srgbClr val="132B4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5883182-4182-41D2-A7EC-EA6E29DD4740}"/>
              </a:ext>
            </a:extLst>
          </p:cNvPr>
          <p:cNvSpPr>
            <a:spLocks xmlns:a="http://schemas.openxmlformats.org/drawingml/2006/main" noGrp="1"/>
          </p:cNvSpPr>
          <p:nvPr/>
        </p:nvSpPr>
        <p:spPr>
          <a:xfrm xmlns:a="http://schemas.openxmlformats.org/drawingml/2006/main">
            <a:off x="457200" y="323850"/>
            <a:ext cx="11239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32B43"/>
                </a:solidFill>
                <a:latin typeface="Arial"/>
                <a:ea typeface="Arial"/>
                <a:cs typeface="Arial"/>
              </a:defRPr>
            </a:defPPr>
            <a:lvl1pPr>
              <a:defRPr sz="2625" b="1">
                <a:solidFill>
                  <a:srgbClr val="132B43"/>
                </a:solidFill>
                <a:latin typeface="Arial"/>
                <a:ea typeface="Arial"/>
                <a:cs typeface="Arial"/>
              </a:defRPr>
            </a:lvl1pPr>
            <a:lvl2pPr>
              <a:defRPr sz="2625" b="1">
                <a:solidFill>
                  <a:srgbClr val="132B43"/>
                </a:solidFill>
                <a:latin typeface="Arial"/>
                <a:ea typeface="Arial"/>
                <a:cs typeface="Arial"/>
              </a:defRPr>
            </a:lvl2pPr>
            <a:lvl3pPr>
              <a:defRPr sz="2625" b="1">
                <a:solidFill>
                  <a:srgbClr val="132B43"/>
                </a:solidFill>
                <a:latin typeface="Arial"/>
                <a:ea typeface="Arial"/>
                <a:cs typeface="Arial"/>
              </a:defRPr>
            </a:lvl3pPr>
            <a:lvl4pPr>
              <a:defRPr sz="2625" b="1">
                <a:solidFill>
                  <a:srgbClr val="132B43"/>
                </a:solidFill>
                <a:latin typeface="Arial"/>
                <a:ea typeface="Arial"/>
                <a:cs typeface="Arial"/>
              </a:defRPr>
            </a:lvl4pPr>
            <a:lvl5pPr>
              <a:defRPr sz="2625" b="1">
                <a:solidFill>
                  <a:srgbClr val="132B43"/>
                </a:solidFill>
                <a:latin typeface="Arial"/>
                <a:ea typeface="Arial"/>
                <a:cs typeface="Arial"/>
              </a:defRPr>
            </a:lvl5pPr>
            <a:lvl6pPr>
              <a:defRPr sz="2625" b="1">
                <a:solidFill>
                  <a:srgbClr val="132B43"/>
                </a:solidFill>
                <a:latin typeface="Arial"/>
                <a:ea typeface="Arial"/>
                <a:cs typeface="Arial"/>
              </a:defRPr>
            </a:lvl6pPr>
            <a:lvl7pPr>
              <a:defRPr sz="2625" b="1">
                <a:solidFill>
                  <a:srgbClr val="132B43"/>
                </a:solidFill>
                <a:latin typeface="Arial"/>
                <a:ea typeface="Arial"/>
                <a:cs typeface="Arial"/>
              </a:defRPr>
            </a:lvl7pPr>
            <a:lvl8pPr>
              <a:defRPr sz="2625" b="1">
                <a:solidFill>
                  <a:srgbClr val="132B43"/>
                </a:solidFill>
                <a:latin typeface="Arial"/>
                <a:ea typeface="Arial"/>
                <a:cs typeface="Arial"/>
              </a:defRPr>
            </a:lvl8pPr>
            <a:lvl9pPr>
              <a:defRPr sz="2625" b="1">
                <a:solidFill>
                  <a:srgbClr val="132B43"/>
                </a:solidFill>
                <a:latin typeface="Arial"/>
                <a:ea typeface="Arial"/>
                <a:cs typeface="Arial"/>
              </a:defRPr>
            </a:lvl9pPr>
          </a:lstStyle>
          <a:p xmlns:a="http://schemas.openxmlformats.org/drawingml/2006/main">
            <a:pPr>
              <a:defRPr sz="2625" b="1">
                <a:solidFill>
                  <a:srgbClr val="132B43"/>
                </a:solidFill>
                <a:latin typeface="Arial"/>
                <a:ea typeface="Arial"/>
                <a:cs typeface="Arial"/>
              </a:defRPr>
            </a:pPr>
            <a:r>
              <a:rPr sz="2625" b="1">
                <a:solidFill>
                  <a:srgbClr val="132B43"/>
                </a:solidFill>
                <a:latin typeface="Arial"/>
                <a:ea typeface="Arial"/>
                <a:cs typeface="Arial"/>
              </a:rPr>
              <a:t>Simulation Results and SSO Mitigation Performance</a:t>
            </a:r>
          </a:p>
        </p:txBody>
      </p:sp>
      <p:sp>
        <p:nvSpPr>
          <p:cNvPr id="3" name="">
            <a:extLst xmlns:a="http://schemas.openxmlformats.org/drawingml/2006/main">
              <a:ext uri="{FF2B5EF4-FFF2-40B4-BE49-F238E27FC236}">
                <a16:creationId xmlns:a16="http://schemas.microsoft.com/office/drawing/2014/main" id="{832F1405-F688-4D59-A944-7AF32ACE2EA5}"/>
              </a:ext>
            </a:extLst>
          </p:cNvPr>
          <p:cNvSpPr>
            <a:spLocks xmlns:a="http://schemas.openxmlformats.org/drawingml/2006/main" noGrp="1"/>
          </p:cNvSpPr>
          <p:nvPr/>
        </p:nvSpPr>
        <p:spPr>
          <a:xfrm xmlns:a="http://schemas.openxmlformats.org/drawingml/2006/main">
            <a:off x="457200" y="1000125"/>
            <a:ext cx="11277600" cy="19050"/>
          </a:xfrm>
          <a:prstGeom xmlns:a="http://schemas.openxmlformats.org/drawingml/2006/main" prst="rect">
            <a:avLst/>
          </a:prstGeom>
          <a:solidFill xmlns:a="http://schemas.openxmlformats.org/drawingml/2006/main">
            <a:srgbClr val="DCE4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E9335FB-14D8-4108-9DCA-998A689AC93E}"/>
              </a:ext>
            </a:extLst>
          </p:cNvPr>
          <p:cNvSpPr>
            <a:spLocks xmlns:a="http://schemas.openxmlformats.org/drawingml/2006/main" noGrp="1"/>
          </p:cNvSpPr>
          <p:nvPr/>
        </p:nvSpPr>
        <p:spPr>
          <a:xfrm xmlns:a="http://schemas.openxmlformats.org/drawingml/2006/main">
            <a:off x="457200" y="6477000"/>
            <a:ext cx="1123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4F5E68"/>
                </a:solidFill>
                <a:latin typeface="Arial"/>
                <a:ea typeface="Arial"/>
                <a:cs typeface="Arial"/>
              </a:defRPr>
            </a:defPPr>
            <a:lvl1pPr>
              <a:defRPr sz="975" b="0">
                <a:solidFill>
                  <a:srgbClr val="4F5E68"/>
                </a:solidFill>
                <a:latin typeface="Arial"/>
                <a:ea typeface="Arial"/>
                <a:cs typeface="Arial"/>
              </a:defRPr>
            </a:lvl1pPr>
            <a:lvl2pPr>
              <a:defRPr sz="975" b="0">
                <a:solidFill>
                  <a:srgbClr val="4F5E68"/>
                </a:solidFill>
                <a:latin typeface="Arial"/>
                <a:ea typeface="Arial"/>
                <a:cs typeface="Arial"/>
              </a:defRPr>
            </a:lvl2pPr>
            <a:lvl3pPr>
              <a:defRPr sz="975" b="0">
                <a:solidFill>
                  <a:srgbClr val="4F5E68"/>
                </a:solidFill>
                <a:latin typeface="Arial"/>
                <a:ea typeface="Arial"/>
                <a:cs typeface="Arial"/>
              </a:defRPr>
            </a:lvl3pPr>
            <a:lvl4pPr>
              <a:defRPr sz="975" b="0">
                <a:solidFill>
                  <a:srgbClr val="4F5E68"/>
                </a:solidFill>
                <a:latin typeface="Arial"/>
                <a:ea typeface="Arial"/>
                <a:cs typeface="Arial"/>
              </a:defRPr>
            </a:lvl4pPr>
            <a:lvl5pPr>
              <a:defRPr sz="975" b="0">
                <a:solidFill>
                  <a:srgbClr val="4F5E68"/>
                </a:solidFill>
                <a:latin typeface="Arial"/>
                <a:ea typeface="Arial"/>
                <a:cs typeface="Arial"/>
              </a:defRPr>
            </a:lvl5pPr>
            <a:lvl6pPr>
              <a:defRPr sz="975" b="0">
                <a:solidFill>
                  <a:srgbClr val="4F5E68"/>
                </a:solidFill>
                <a:latin typeface="Arial"/>
                <a:ea typeface="Arial"/>
                <a:cs typeface="Arial"/>
              </a:defRPr>
            </a:lvl6pPr>
            <a:lvl7pPr>
              <a:defRPr sz="975" b="0">
                <a:solidFill>
                  <a:srgbClr val="4F5E68"/>
                </a:solidFill>
                <a:latin typeface="Arial"/>
                <a:ea typeface="Arial"/>
                <a:cs typeface="Arial"/>
              </a:defRPr>
            </a:lvl7pPr>
            <a:lvl8pPr>
              <a:defRPr sz="975" b="0">
                <a:solidFill>
                  <a:srgbClr val="4F5E68"/>
                </a:solidFill>
                <a:latin typeface="Arial"/>
                <a:ea typeface="Arial"/>
                <a:cs typeface="Arial"/>
              </a:defRPr>
            </a:lvl8pPr>
            <a:lvl9pPr>
              <a:defRPr sz="975" b="0">
                <a:solidFill>
                  <a:srgbClr val="4F5E68"/>
                </a:solidFill>
                <a:latin typeface="Arial"/>
                <a:ea typeface="Arial"/>
                <a:cs typeface="Arial"/>
              </a:defRPr>
            </a:lvl9pPr>
          </a:lstStyle>
          <a:p xmlns:a="http://schemas.openxmlformats.org/drawingml/2006/main">
            <a:pPr>
              <a:defRPr sz="975" b="0">
                <a:solidFill>
                  <a:srgbClr val="4F5E68"/>
                </a:solidFill>
                <a:latin typeface="Arial"/>
                <a:ea typeface="Arial"/>
                <a:cs typeface="Arial"/>
              </a:defRPr>
            </a:pPr>
            <a:r>
              <a:rPr sz="975" b="0">
                <a:solidFill>
                  <a:srgbClr val="4F5E68"/>
                </a:solidFill>
                <a:latin typeface="Arial"/>
                <a:ea typeface="Arial"/>
                <a:cs typeface="Arial"/>
              </a:rPr>
              <a:t>VATaleni PMSG–SSO  |  3/3</a:t>
            </a:r>
          </a:p>
        </p:txBody>
      </p:sp>
      <p:sp>
        <p:nvSpPr>
          <p:cNvPr id="5" name="">
            <a:extLst xmlns:a="http://schemas.openxmlformats.org/drawingml/2006/main">
              <a:ext uri="{FF2B5EF4-FFF2-40B4-BE49-F238E27FC236}">
                <a16:creationId xmlns:a16="http://schemas.microsoft.com/office/drawing/2014/main" id="{1BA9B099-3487-4152-90E4-A3B0726BEE67}"/>
              </a:ext>
            </a:extLst>
          </p:cNvPr>
          <p:cNvSpPr>
            <a:spLocks xmlns:a="http://schemas.openxmlformats.org/drawingml/2006/main" noGrp="1"/>
          </p:cNvSpPr>
          <p:nvPr/>
        </p:nvSpPr>
        <p:spPr>
          <a:xfrm xmlns:a="http://schemas.openxmlformats.org/drawingml/2006/main">
            <a:off x="476250" y="1181100"/>
            <a:ext cx="5143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315D79"/>
                </a:solidFill>
                <a:latin typeface="Arial"/>
                <a:ea typeface="Arial"/>
                <a:cs typeface="Arial"/>
              </a:defRPr>
            </a:defPPr>
            <a:lvl1pPr>
              <a:defRPr sz="1275" b="1">
                <a:solidFill>
                  <a:srgbClr val="315D79"/>
                </a:solidFill>
                <a:latin typeface="Arial"/>
                <a:ea typeface="Arial"/>
                <a:cs typeface="Arial"/>
              </a:defRPr>
            </a:lvl1pPr>
            <a:lvl2pPr>
              <a:defRPr sz="1275" b="1">
                <a:solidFill>
                  <a:srgbClr val="315D79"/>
                </a:solidFill>
                <a:latin typeface="Arial"/>
                <a:ea typeface="Arial"/>
                <a:cs typeface="Arial"/>
              </a:defRPr>
            </a:lvl2pPr>
            <a:lvl3pPr>
              <a:defRPr sz="1275" b="1">
                <a:solidFill>
                  <a:srgbClr val="315D79"/>
                </a:solidFill>
                <a:latin typeface="Arial"/>
                <a:ea typeface="Arial"/>
                <a:cs typeface="Arial"/>
              </a:defRPr>
            </a:lvl3pPr>
            <a:lvl4pPr>
              <a:defRPr sz="1275" b="1">
                <a:solidFill>
                  <a:srgbClr val="315D79"/>
                </a:solidFill>
                <a:latin typeface="Arial"/>
                <a:ea typeface="Arial"/>
                <a:cs typeface="Arial"/>
              </a:defRPr>
            </a:lvl4pPr>
            <a:lvl5pPr>
              <a:defRPr sz="1275" b="1">
                <a:solidFill>
                  <a:srgbClr val="315D79"/>
                </a:solidFill>
                <a:latin typeface="Arial"/>
                <a:ea typeface="Arial"/>
                <a:cs typeface="Arial"/>
              </a:defRPr>
            </a:lvl5pPr>
            <a:lvl6pPr>
              <a:defRPr sz="1275" b="1">
                <a:solidFill>
                  <a:srgbClr val="315D79"/>
                </a:solidFill>
                <a:latin typeface="Arial"/>
                <a:ea typeface="Arial"/>
                <a:cs typeface="Arial"/>
              </a:defRPr>
            </a:lvl6pPr>
            <a:lvl7pPr>
              <a:defRPr sz="1275" b="1">
                <a:solidFill>
                  <a:srgbClr val="315D79"/>
                </a:solidFill>
                <a:latin typeface="Arial"/>
                <a:ea typeface="Arial"/>
                <a:cs typeface="Arial"/>
              </a:defRPr>
            </a:lvl7pPr>
            <a:lvl8pPr>
              <a:defRPr sz="1275" b="1">
                <a:solidFill>
                  <a:srgbClr val="315D79"/>
                </a:solidFill>
                <a:latin typeface="Arial"/>
                <a:ea typeface="Arial"/>
                <a:cs typeface="Arial"/>
              </a:defRPr>
            </a:lvl8pPr>
            <a:lvl9pPr>
              <a:defRPr sz="1275" b="1">
                <a:solidFill>
                  <a:srgbClr val="315D79"/>
                </a:solidFill>
                <a:latin typeface="Arial"/>
                <a:ea typeface="Arial"/>
                <a:cs typeface="Arial"/>
              </a:defRPr>
            </a:lvl9pPr>
          </a:lstStyle>
          <a:p xmlns:a="http://schemas.openxmlformats.org/drawingml/2006/main">
            <a:pPr>
              <a:defRPr sz="1275" b="1">
                <a:solidFill>
                  <a:srgbClr val="315D79"/>
                </a:solidFill>
                <a:latin typeface="Arial"/>
                <a:ea typeface="Arial"/>
                <a:cs typeface="Arial"/>
              </a:defRPr>
            </a:pPr>
            <a:r>
              <a:rPr sz="1275" b="1">
                <a:solidFill>
                  <a:srgbClr val="315D79"/>
                </a:solidFill>
                <a:latin typeface="Arial"/>
                <a:ea typeface="Arial"/>
                <a:cs typeface="Arial"/>
              </a:rPr>
              <a:t>WEAK GRID — UNMITIGATED</a:t>
            </a:r>
          </a:p>
        </p:txBody>
      </p:sp>
      <p:sp>
        <p:nvSpPr>
          <p:cNvPr id="6" name="">
            <a:extLst xmlns:a="http://schemas.openxmlformats.org/drawingml/2006/main">
              <a:ext uri="{FF2B5EF4-FFF2-40B4-BE49-F238E27FC236}">
                <a16:creationId xmlns:a16="http://schemas.microsoft.com/office/drawing/2014/main" id="{3F7AFE49-8953-424F-A2C4-461CDD0DC909}"/>
              </a:ext>
            </a:extLst>
          </p:cNvPr>
          <p:cNvSpPr>
            <a:spLocks xmlns:a="http://schemas.openxmlformats.org/drawingml/2006/main" noGrp="1"/>
          </p:cNvSpPr>
          <p:nvPr/>
        </p:nvSpPr>
        <p:spPr>
          <a:xfrm xmlns:a="http://schemas.openxmlformats.org/drawingml/2006/main">
            <a:off x="476250" y="3533775"/>
            <a:ext cx="5143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315D79"/>
                </a:solidFill>
                <a:latin typeface="Arial"/>
                <a:ea typeface="Arial"/>
                <a:cs typeface="Arial"/>
              </a:defRPr>
            </a:defPPr>
            <a:lvl1pPr>
              <a:defRPr sz="1275" b="1">
                <a:solidFill>
                  <a:srgbClr val="315D79"/>
                </a:solidFill>
                <a:latin typeface="Arial"/>
                <a:ea typeface="Arial"/>
                <a:cs typeface="Arial"/>
              </a:defRPr>
            </a:lvl1pPr>
            <a:lvl2pPr>
              <a:defRPr sz="1275" b="1">
                <a:solidFill>
                  <a:srgbClr val="315D79"/>
                </a:solidFill>
                <a:latin typeface="Arial"/>
                <a:ea typeface="Arial"/>
                <a:cs typeface="Arial"/>
              </a:defRPr>
            </a:lvl2pPr>
            <a:lvl3pPr>
              <a:defRPr sz="1275" b="1">
                <a:solidFill>
                  <a:srgbClr val="315D79"/>
                </a:solidFill>
                <a:latin typeface="Arial"/>
                <a:ea typeface="Arial"/>
                <a:cs typeface="Arial"/>
              </a:defRPr>
            </a:lvl3pPr>
            <a:lvl4pPr>
              <a:defRPr sz="1275" b="1">
                <a:solidFill>
                  <a:srgbClr val="315D79"/>
                </a:solidFill>
                <a:latin typeface="Arial"/>
                <a:ea typeface="Arial"/>
                <a:cs typeface="Arial"/>
              </a:defRPr>
            </a:lvl4pPr>
            <a:lvl5pPr>
              <a:defRPr sz="1275" b="1">
                <a:solidFill>
                  <a:srgbClr val="315D79"/>
                </a:solidFill>
                <a:latin typeface="Arial"/>
                <a:ea typeface="Arial"/>
                <a:cs typeface="Arial"/>
              </a:defRPr>
            </a:lvl5pPr>
            <a:lvl6pPr>
              <a:defRPr sz="1275" b="1">
                <a:solidFill>
                  <a:srgbClr val="315D79"/>
                </a:solidFill>
                <a:latin typeface="Arial"/>
                <a:ea typeface="Arial"/>
                <a:cs typeface="Arial"/>
              </a:defRPr>
            </a:lvl6pPr>
            <a:lvl7pPr>
              <a:defRPr sz="1275" b="1">
                <a:solidFill>
                  <a:srgbClr val="315D79"/>
                </a:solidFill>
                <a:latin typeface="Arial"/>
                <a:ea typeface="Arial"/>
                <a:cs typeface="Arial"/>
              </a:defRPr>
            </a:lvl7pPr>
            <a:lvl8pPr>
              <a:defRPr sz="1275" b="1">
                <a:solidFill>
                  <a:srgbClr val="315D79"/>
                </a:solidFill>
                <a:latin typeface="Arial"/>
                <a:ea typeface="Arial"/>
                <a:cs typeface="Arial"/>
              </a:defRPr>
            </a:lvl8pPr>
            <a:lvl9pPr>
              <a:defRPr sz="1275" b="1">
                <a:solidFill>
                  <a:srgbClr val="315D79"/>
                </a:solidFill>
                <a:latin typeface="Arial"/>
                <a:ea typeface="Arial"/>
                <a:cs typeface="Arial"/>
              </a:defRPr>
            </a:lvl9pPr>
          </a:lstStyle>
          <a:p xmlns:a="http://schemas.openxmlformats.org/drawingml/2006/main">
            <a:pPr>
              <a:defRPr sz="1275" b="1">
                <a:solidFill>
                  <a:srgbClr val="315D79"/>
                </a:solidFill>
                <a:latin typeface="Arial"/>
                <a:ea typeface="Arial"/>
                <a:cs typeface="Arial"/>
              </a:defRPr>
            </a:pPr>
            <a:r>
              <a:rPr sz="1275" b="1">
                <a:solidFill>
                  <a:srgbClr val="315D79"/>
                </a:solidFill>
                <a:latin typeface="Arial"/>
                <a:ea typeface="Arial"/>
                <a:cs typeface="Arial"/>
              </a:rPr>
              <a:t>WEAK GRID — PLL RETUNED</a:t>
            </a:r>
          </a:p>
        </p:txBody>
      </p:sp>
      <p:pic>
        <p:nvPicPr>
          <p:cNvPr id="7" name="">
            <a:extLst xmlns:a="http://schemas.openxmlformats.org/drawingml/2006/main">
              <a:ext uri="{FF2B5EF4-FFF2-40B4-BE49-F238E27FC236}">
                <a16:creationId xmlns:a16="http://schemas.microsoft.com/office/drawing/2014/main" id="{67360686-C576-4356-93D5-5E0D518CC2C4}"/>
              </a:ext>
            </a:extLst>
          </p:cNvPr>
          <p:cNvPicPr>
            <a:picLocks xmlns:a="http://schemas.openxmlformats.org/drawingml/2006/main" noChangeAspect="1"/>
          </p:cNvPicPr>
          <p:nvPr/>
        </p:nvPicPr>
        <p:blipFill>
          <a:blip xmlns:r="http://schemas.openxmlformats.org/officeDocument/2006/relationships" xmlns:a="http://schemas.openxmlformats.org/drawingml/2006/main" r:embed="Re68b6f958e0544a2"/>
          <a:stretch xmlns:a="http://schemas.openxmlformats.org/drawingml/2006/main"/>
        </p:blipFill>
        <p:spPr>
          <a:xfrm xmlns:a="http://schemas.openxmlformats.org/drawingml/2006/main">
            <a:off x="1334344" y="1438275"/>
            <a:ext cx="3322537" cy="197167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CA55479E-E355-41E9-BA76-B217347CD87A}"/>
              </a:ext>
            </a:extLst>
          </p:cNvPr>
          <p:cNvPicPr>
            <a:picLocks xmlns:a="http://schemas.openxmlformats.org/drawingml/2006/main" noChangeAspect="1"/>
          </p:cNvPicPr>
          <p:nvPr/>
        </p:nvPicPr>
        <p:blipFill>
          <a:blip xmlns:r="http://schemas.openxmlformats.org/officeDocument/2006/relationships" xmlns:a="http://schemas.openxmlformats.org/drawingml/2006/main" r:embed="R6f13157bdfb84e29"/>
          <a:stretch xmlns:a="http://schemas.openxmlformats.org/drawingml/2006/main"/>
        </p:blipFill>
        <p:spPr>
          <a:xfrm xmlns:a="http://schemas.openxmlformats.org/drawingml/2006/main">
            <a:off x="1334344" y="3790950"/>
            <a:ext cx="3322537" cy="1971675"/>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F83CDA40-A524-4019-8FA2-46B4B2206CE9}"/>
              </a:ext>
            </a:extLst>
          </p:cNvPr>
          <p:cNvPicPr>
            <a:picLocks xmlns:a="http://schemas.openxmlformats.org/drawingml/2006/main" noChangeAspect="1"/>
          </p:cNvPicPr>
          <p:nvPr/>
        </p:nvPicPr>
        <p:blipFill>
          <a:blip xmlns:r="http://schemas.openxmlformats.org/officeDocument/2006/relationships" xmlns:a="http://schemas.openxmlformats.org/drawingml/2006/main" r:embed="Rb65c08b3d3b44170"/>
          <a:stretch xmlns:a="http://schemas.openxmlformats.org/drawingml/2006/main"/>
        </p:blipFill>
        <p:spPr>
          <a:xfrm xmlns:a="http://schemas.openxmlformats.org/drawingml/2006/main">
            <a:off x="5791200" y="1324497"/>
            <a:ext cx="5953125" cy="353273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60C45FF-6B53-4ED0-90CC-31B24FB19B0E}"/>
              </a:ext>
            </a:extLst>
          </p:cNvPr>
          <p:cNvSpPr>
            <a:spLocks xmlns:a="http://schemas.openxmlformats.org/drawingml/2006/main" noGrp="1"/>
          </p:cNvSpPr>
          <p:nvPr/>
        </p:nvSpPr>
        <p:spPr>
          <a:xfrm xmlns:a="http://schemas.openxmlformats.org/drawingml/2006/main">
            <a:off x="5924550" y="500062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32B43"/>
                </a:solidFill>
                <a:latin typeface="Arial"/>
                <a:ea typeface="Arial"/>
                <a:cs typeface="Arial"/>
              </a:defRPr>
            </a:defPPr>
            <a:lvl1pPr>
              <a:defRPr sz="1350" b="1">
                <a:solidFill>
                  <a:srgbClr val="132B43"/>
                </a:solidFill>
                <a:latin typeface="Arial"/>
                <a:ea typeface="Arial"/>
                <a:cs typeface="Arial"/>
              </a:defRPr>
            </a:lvl1pPr>
            <a:lvl2pPr>
              <a:defRPr sz="1350" b="1">
                <a:solidFill>
                  <a:srgbClr val="132B43"/>
                </a:solidFill>
                <a:latin typeface="Arial"/>
                <a:ea typeface="Arial"/>
                <a:cs typeface="Arial"/>
              </a:defRPr>
            </a:lvl2pPr>
            <a:lvl3pPr>
              <a:defRPr sz="1350" b="1">
                <a:solidFill>
                  <a:srgbClr val="132B43"/>
                </a:solidFill>
                <a:latin typeface="Arial"/>
                <a:ea typeface="Arial"/>
                <a:cs typeface="Arial"/>
              </a:defRPr>
            </a:lvl3pPr>
            <a:lvl4pPr>
              <a:defRPr sz="1350" b="1">
                <a:solidFill>
                  <a:srgbClr val="132B43"/>
                </a:solidFill>
                <a:latin typeface="Arial"/>
                <a:ea typeface="Arial"/>
                <a:cs typeface="Arial"/>
              </a:defRPr>
            </a:lvl4pPr>
            <a:lvl5pPr>
              <a:defRPr sz="1350" b="1">
                <a:solidFill>
                  <a:srgbClr val="132B43"/>
                </a:solidFill>
                <a:latin typeface="Arial"/>
                <a:ea typeface="Arial"/>
                <a:cs typeface="Arial"/>
              </a:defRPr>
            </a:lvl5pPr>
            <a:lvl6pPr>
              <a:defRPr sz="1350" b="1">
                <a:solidFill>
                  <a:srgbClr val="132B43"/>
                </a:solidFill>
                <a:latin typeface="Arial"/>
                <a:ea typeface="Arial"/>
                <a:cs typeface="Arial"/>
              </a:defRPr>
            </a:lvl6pPr>
            <a:lvl7pPr>
              <a:defRPr sz="1350" b="1">
                <a:solidFill>
                  <a:srgbClr val="132B43"/>
                </a:solidFill>
                <a:latin typeface="Arial"/>
                <a:ea typeface="Arial"/>
                <a:cs typeface="Arial"/>
              </a:defRPr>
            </a:lvl7pPr>
            <a:lvl8pPr>
              <a:defRPr sz="1350" b="1">
                <a:solidFill>
                  <a:srgbClr val="132B43"/>
                </a:solidFill>
                <a:latin typeface="Arial"/>
                <a:ea typeface="Arial"/>
                <a:cs typeface="Arial"/>
              </a:defRPr>
            </a:lvl8pPr>
            <a:lvl9pPr>
              <a:defRPr sz="1350" b="1">
                <a:solidFill>
                  <a:srgbClr val="132B43"/>
                </a:solidFill>
                <a:latin typeface="Arial"/>
                <a:ea typeface="Arial"/>
                <a:cs typeface="Arial"/>
              </a:defRPr>
            </a:lvl9pPr>
          </a:lstStyle>
          <a:p xmlns:a="http://schemas.openxmlformats.org/drawingml/2006/main">
            <a:pPr>
              <a:defRPr sz="1350" b="1">
                <a:solidFill>
                  <a:srgbClr val="132B43"/>
                </a:solidFill>
                <a:latin typeface="Arial"/>
                <a:ea typeface="Arial"/>
                <a:cs typeface="Arial"/>
              </a:defRPr>
            </a:pPr>
            <a:r>
              <a:rPr sz="1350" b="1">
                <a:solidFill>
                  <a:srgbClr val="132B43"/>
                </a:solidFill>
                <a:latin typeface="Arial"/>
                <a:ea typeface="Arial"/>
                <a:cs typeface="Arial"/>
              </a:rPr>
              <a:t>Early PCC q-voltage variation (2.25–3.25 s)</a:t>
            </a:r>
          </a:p>
        </p:txBody>
      </p:sp>
      <p:sp>
        <p:nvSpPr>
          <p:cNvPr id="11" name="">
            <a:extLst xmlns:a="http://schemas.openxmlformats.org/drawingml/2006/main">
              <a:ext uri="{FF2B5EF4-FFF2-40B4-BE49-F238E27FC236}">
                <a16:creationId xmlns:a16="http://schemas.microsoft.com/office/drawing/2014/main" id="{5A1776D5-EFCA-422F-A240-F4BEC513098D}"/>
              </a:ext>
            </a:extLst>
          </p:cNvPr>
          <p:cNvSpPr>
            <a:spLocks xmlns:a="http://schemas.openxmlformats.org/drawingml/2006/main" noGrp="1"/>
          </p:cNvSpPr>
          <p:nvPr/>
        </p:nvSpPr>
        <p:spPr>
          <a:xfrm xmlns:a="http://schemas.openxmlformats.org/drawingml/2006/main">
            <a:off x="5924550" y="5295900"/>
            <a:ext cx="55530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32B43"/>
                </a:solidFill>
                <a:latin typeface="Arial"/>
                <a:ea typeface="Arial"/>
                <a:cs typeface="Arial"/>
              </a:defRPr>
            </a:defPPr>
            <a:lvl1pPr>
              <a:defRPr sz="1500" b="0">
                <a:solidFill>
                  <a:srgbClr val="132B43"/>
                </a:solidFill>
                <a:latin typeface="Arial"/>
                <a:ea typeface="Arial"/>
                <a:cs typeface="Arial"/>
              </a:defRPr>
            </a:lvl1pPr>
            <a:lvl2pPr>
              <a:defRPr sz="1500" b="0">
                <a:solidFill>
                  <a:srgbClr val="132B43"/>
                </a:solidFill>
                <a:latin typeface="Arial"/>
                <a:ea typeface="Arial"/>
                <a:cs typeface="Arial"/>
              </a:defRPr>
            </a:lvl2pPr>
            <a:lvl3pPr>
              <a:defRPr sz="1500" b="0">
                <a:solidFill>
                  <a:srgbClr val="132B43"/>
                </a:solidFill>
                <a:latin typeface="Arial"/>
                <a:ea typeface="Arial"/>
                <a:cs typeface="Arial"/>
              </a:defRPr>
            </a:lvl3pPr>
            <a:lvl4pPr>
              <a:defRPr sz="1500" b="0">
                <a:solidFill>
                  <a:srgbClr val="132B43"/>
                </a:solidFill>
                <a:latin typeface="Arial"/>
                <a:ea typeface="Arial"/>
                <a:cs typeface="Arial"/>
              </a:defRPr>
            </a:lvl4pPr>
            <a:lvl5pPr>
              <a:defRPr sz="1500" b="0">
                <a:solidFill>
                  <a:srgbClr val="132B43"/>
                </a:solidFill>
                <a:latin typeface="Arial"/>
                <a:ea typeface="Arial"/>
                <a:cs typeface="Arial"/>
              </a:defRPr>
            </a:lvl5pPr>
            <a:lvl6pPr>
              <a:defRPr sz="1500" b="0">
                <a:solidFill>
                  <a:srgbClr val="132B43"/>
                </a:solidFill>
                <a:latin typeface="Arial"/>
                <a:ea typeface="Arial"/>
                <a:cs typeface="Arial"/>
              </a:defRPr>
            </a:lvl6pPr>
            <a:lvl7pPr>
              <a:defRPr sz="1500" b="0">
                <a:solidFill>
                  <a:srgbClr val="132B43"/>
                </a:solidFill>
                <a:latin typeface="Arial"/>
                <a:ea typeface="Arial"/>
                <a:cs typeface="Arial"/>
              </a:defRPr>
            </a:lvl7pPr>
            <a:lvl8pPr>
              <a:defRPr sz="1500" b="0">
                <a:solidFill>
                  <a:srgbClr val="132B43"/>
                </a:solidFill>
                <a:latin typeface="Arial"/>
                <a:ea typeface="Arial"/>
                <a:cs typeface="Arial"/>
              </a:defRPr>
            </a:lvl8pPr>
            <a:lvl9pPr>
              <a:defRPr sz="1500" b="0">
                <a:solidFill>
                  <a:srgbClr val="132B43"/>
                </a:solidFill>
                <a:latin typeface="Arial"/>
                <a:ea typeface="Arial"/>
                <a:cs typeface="Arial"/>
              </a:defRPr>
            </a:lvl9pPr>
          </a:lstStyle>
          <a:p xmlns:a="http://schemas.openxmlformats.org/drawingml/2006/main">
            <a:pPr>
              <a:defRPr sz="1500" b="0">
                <a:solidFill>
                  <a:srgbClr val="132B43"/>
                </a:solidFill>
                <a:latin typeface="Arial"/>
                <a:ea typeface="Arial"/>
                <a:cs typeface="Arial"/>
              </a:defRPr>
            </a:pPr>
            <a:r>
              <a:rPr sz="1500" b="0">
                <a:solidFill>
                  <a:srgbClr val="132B43"/>
                </a:solidFill>
                <a:latin typeface="Arial"/>
                <a:ea typeface="Arial"/>
                <a:cs typeface="Arial"/>
              </a:rPr>
              <a:t>SCR 10: 1.788 V   •   SCR 5: 3.997 V   •   mitigated: 0.554 V</a:t>
            </a:r>
          </a:p>
        </p:txBody>
      </p:sp>
      <p:sp>
        <p:nvSpPr>
          <p:cNvPr id="12" name="">
            <a:extLst xmlns:a="http://schemas.openxmlformats.org/drawingml/2006/main">
              <a:ext uri="{FF2B5EF4-FFF2-40B4-BE49-F238E27FC236}">
                <a16:creationId xmlns:a16="http://schemas.microsoft.com/office/drawing/2014/main" id="{E983C5FD-BC9F-4A04-ACEB-E1089FF30896}"/>
              </a:ext>
            </a:extLst>
          </p:cNvPr>
          <p:cNvSpPr>
            <a:spLocks xmlns:a="http://schemas.openxmlformats.org/drawingml/2006/main" noGrp="1"/>
          </p:cNvSpPr>
          <p:nvPr/>
        </p:nvSpPr>
        <p:spPr>
          <a:xfrm xmlns:a="http://schemas.openxmlformats.org/drawingml/2006/main">
            <a:off x="5924550" y="5934075"/>
            <a:ext cx="55721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4F5E68"/>
                </a:solidFill>
                <a:latin typeface="Arial"/>
                <a:ea typeface="Arial"/>
                <a:cs typeface="Arial"/>
              </a:defRPr>
            </a:defPPr>
            <a:lvl1pPr>
              <a:defRPr sz="1200" b="0">
                <a:solidFill>
                  <a:srgbClr val="4F5E68"/>
                </a:solidFill>
                <a:latin typeface="Arial"/>
                <a:ea typeface="Arial"/>
                <a:cs typeface="Arial"/>
              </a:defRPr>
            </a:lvl1pPr>
            <a:lvl2pPr>
              <a:defRPr sz="1200" b="0">
                <a:solidFill>
                  <a:srgbClr val="4F5E68"/>
                </a:solidFill>
                <a:latin typeface="Arial"/>
                <a:ea typeface="Arial"/>
                <a:cs typeface="Arial"/>
              </a:defRPr>
            </a:lvl2pPr>
            <a:lvl3pPr>
              <a:defRPr sz="1200" b="0">
                <a:solidFill>
                  <a:srgbClr val="4F5E68"/>
                </a:solidFill>
                <a:latin typeface="Arial"/>
                <a:ea typeface="Arial"/>
                <a:cs typeface="Arial"/>
              </a:defRPr>
            </a:lvl3pPr>
            <a:lvl4pPr>
              <a:defRPr sz="1200" b="0">
                <a:solidFill>
                  <a:srgbClr val="4F5E68"/>
                </a:solidFill>
                <a:latin typeface="Arial"/>
                <a:ea typeface="Arial"/>
                <a:cs typeface="Arial"/>
              </a:defRPr>
            </a:lvl4pPr>
            <a:lvl5pPr>
              <a:defRPr sz="1200" b="0">
                <a:solidFill>
                  <a:srgbClr val="4F5E68"/>
                </a:solidFill>
                <a:latin typeface="Arial"/>
                <a:ea typeface="Arial"/>
                <a:cs typeface="Arial"/>
              </a:defRPr>
            </a:lvl5pPr>
            <a:lvl6pPr>
              <a:defRPr sz="1200" b="0">
                <a:solidFill>
                  <a:srgbClr val="4F5E68"/>
                </a:solidFill>
                <a:latin typeface="Arial"/>
                <a:ea typeface="Arial"/>
                <a:cs typeface="Arial"/>
              </a:defRPr>
            </a:lvl6pPr>
            <a:lvl7pPr>
              <a:defRPr sz="1200" b="0">
                <a:solidFill>
                  <a:srgbClr val="4F5E68"/>
                </a:solidFill>
                <a:latin typeface="Arial"/>
                <a:ea typeface="Arial"/>
                <a:cs typeface="Arial"/>
              </a:defRPr>
            </a:lvl7pPr>
            <a:lvl8pPr>
              <a:defRPr sz="1200" b="0">
                <a:solidFill>
                  <a:srgbClr val="4F5E68"/>
                </a:solidFill>
                <a:latin typeface="Arial"/>
                <a:ea typeface="Arial"/>
                <a:cs typeface="Arial"/>
              </a:defRPr>
            </a:lvl8pPr>
            <a:lvl9pPr>
              <a:defRPr sz="1200" b="0">
                <a:solidFill>
                  <a:srgbClr val="4F5E68"/>
                </a:solidFill>
                <a:latin typeface="Arial"/>
                <a:ea typeface="Arial"/>
                <a:cs typeface="Arial"/>
              </a:defRPr>
            </a:lvl9pPr>
          </a:lstStyle>
          <a:p xmlns:a="http://schemas.openxmlformats.org/drawingml/2006/main">
            <a:pPr>
              <a:defRPr sz="1200" b="0">
                <a:solidFill>
                  <a:srgbClr val="4F5E68"/>
                </a:solidFill>
                <a:latin typeface="Arial"/>
                <a:ea typeface="Arial"/>
                <a:cs typeface="Arial"/>
              </a:defRPr>
            </a:pPr>
            <a:r>
              <a:rPr sz="1200" b="0">
                <a:solidFill>
                  <a:srgbClr val="4F5E68"/>
                </a:solidFill>
                <a:latin typeface="Arial"/>
                <a:ea typeface="Arial"/>
                <a:cs typeface="Arial"/>
              </a:rPr>
              <a:t>PLL Kp 0.00558 → 0.02 rad/(s·V); matched 4.6 Hz mode damping 5.24% → 18.99%. The response decays in all tested runs.</a:t>
            </a:r>
          </a:p>
        </p:txBody>
      </p:sp>
    </p:spTree>
    <p:extLst>
      <p:ext uri="{BB962C8B-B14F-4D97-AF65-F5344CB8AC3E}">
        <p14:creationId xmlns:p14="http://schemas.microsoft.com/office/powerpoint/2010/main" val="1147034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2026-10-21T20:39:54.5930000Z</dcterms:created>
  <dcterms:modified xsi:type="dcterms:W3CDTF">2026-10-21T20:39:54.5940000Z</dcterms:modified>
</coreProperties>
</file>